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to open: we already pull these reports by hand every day. This is a proposal to have that happen on a timer instead. I am asking for a decision on two things, both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 saving is real but modest. Lead with the reliability argument instead: manual daily tasks get skipped under pressure, and stale data is worse than no data because nobody knows it is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our own de-identified export, not estimates. The point of the slide is that the figures move daily, so a weekly manual pull is not good enough to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asks the AI question, this slide is the answer. Nothing decides anything. It clicks the same buttons in the same order every time, and it physically cannot press the buttons that change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The safeguards are structural, not promises. If someone asks what happens if it goes wrong: it stops and files nothing. It never uploads something it could not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oversell this. Saying it is tested but not yet connected is what makes the rest of the deck credible. If asked how long to prove it: one working session plus a week of supervised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on why sign-in is not automated: automating a login and its two-factor code would mean storing credentials, which is exactly what we should not do with a system holding children's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the ExtendedReach terms point. Better to raise it ourselves than have it surface later. It is one email and it protects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low downside: the cost of being wrong is one hour. That is usually the sentence that gets a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622"/>
        </a:solidFill>
      </p:bgPr>
    </p:bg>
    <p:spTree>
      <p:nvGrpSpPr>
        <p:cNvPr id="1" name=""/>
        <p:cNvGrpSpPr/>
        <p:nvPr/>
      </p:nvGrpSpPr>
      <p:grpSpPr>
        <a:xfrm>
          <a:off x="0" y="0"/>
          <a:ext cx="0" cy="0"/>
          <a:chOff x="0" y="0"/>
          <a:chExt cx="0" cy="0"/>
        </a:xfrm>
      </p:grpSpPr>
      <p:sp>
        <p:nvSpPr>
          <p:cNvPr id="2" name="Text 0"/>
          <p:cNvSpPr txBox="1"/>
          <p:nvPr/>
        </p:nvSpPr>
        <p:spPr>
          <a:xfrm>
            <a:off x="640080" y="2057400"/>
            <a:ext cx="822960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PROPOSAL FOR DECISION</a:t>
            </a:r>
            <a:endParaRPr lang="en-US" sz="1200" dirty="0"/>
          </a:p>
        </p:txBody>
      </p:sp>
      <p:sp>
        <p:nvSpPr>
          <p:cNvPr id="3" name="Text 1"/>
          <p:cNvSpPr txBox="1"/>
          <p:nvPr/>
        </p:nvSpPr>
        <p:spPr>
          <a:xfrm>
            <a:off x="640080" y="2468880"/>
            <a:ext cx="9144000" cy="173736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Century Schoolbook" pitchFamily="34" charset="0"/>
                <a:ea typeface="Century Schoolbook" pitchFamily="34" charset="-122"/>
                <a:cs typeface="Century Schoolbook" pitchFamily="34" charset="-120"/>
              </a:rPr>
              <a:t>Automating the daily</a:t>
            </a:r>
            <a:endParaRPr lang="en-US" sz="4200" dirty="0"/>
          </a:p>
          <a:p>
            <a:pPr indent="0" marL="0">
              <a:lnSpc>
                <a:spcPts val="4600"/>
              </a:lnSpc>
              <a:buNone/>
            </a:pPr>
            <a:r>
              <a:rPr lang="en-US" sz="4200" b="1" dirty="0">
                <a:solidFill>
                  <a:srgbClr val="FFFFFF"/>
                </a:solidFill>
                <a:latin typeface="Century Schoolbook" pitchFamily="34" charset="0"/>
                <a:ea typeface="Century Schoolbook" pitchFamily="34" charset="-122"/>
                <a:cs typeface="Century Schoolbook" pitchFamily="34" charset="-120"/>
              </a:rPr>
              <a:t>ExtendedReach exports</a:t>
            </a:r>
            <a:endParaRPr lang="en-US" sz="4200" dirty="0"/>
          </a:p>
        </p:txBody>
      </p:sp>
      <p:sp>
        <p:nvSpPr>
          <p:cNvPr id="4" name="Text 2"/>
          <p:cNvSpPr txBox="1"/>
          <p:nvPr/>
        </p:nvSpPr>
        <p:spPr>
          <a:xfrm>
            <a:off x="640080" y="4343400"/>
            <a:ext cx="8686800" cy="457200"/>
          </a:xfrm>
          <a:prstGeom prst="rect">
            <a:avLst/>
          </a:prstGeom>
          <a:noFill/>
          <a:ln/>
        </p:spPr>
        <p:txBody>
          <a:bodyPr wrap="square" lIns="0" tIns="0" rIns="0" bIns="0" rtlCol="0" anchor="ctr"/>
          <a:lstStyle/>
          <a:p>
            <a:pPr indent="0" marL="0">
              <a:buNone/>
            </a:pPr>
            <a:r>
              <a:rPr lang="en-US" sz="1600" dirty="0">
                <a:solidFill>
                  <a:srgbClr val="C9C2B8"/>
                </a:solidFill>
                <a:latin typeface="Calibri" pitchFamily="34" charset="0"/>
                <a:ea typeface="Calibri" pitchFamily="34" charset="-122"/>
                <a:cs typeface="Calibri" pitchFamily="34" charset="-120"/>
              </a:rPr>
              <a:t>Nine reports, pulled and filed every day, without anyone doing it by hand.</a:t>
            </a:r>
            <a:endParaRPr lang="en-US" sz="1600" dirty="0"/>
          </a:p>
        </p:txBody>
      </p:sp>
      <p:sp>
        <p:nvSpPr>
          <p:cNvPr id="5" name="Text 3"/>
          <p:cNvSpPr txBox="1"/>
          <p:nvPr/>
        </p:nvSpPr>
        <p:spPr>
          <a:xfrm>
            <a:off x="640080" y="5943600"/>
            <a:ext cx="7315200" cy="274320"/>
          </a:xfrm>
          <a:prstGeom prst="rect">
            <a:avLst/>
          </a:prstGeom>
          <a:noFill/>
          <a:ln/>
        </p:spPr>
        <p:txBody>
          <a:bodyPr wrap="square" lIns="0" tIns="0" rIns="0" bIns="0" rtlCol="0" anchor="ctr"/>
          <a:lstStyle/>
          <a:p>
            <a:pPr indent="0" marL="0">
              <a:buNone/>
            </a:pPr>
            <a:r>
              <a:rPr lang="en-US" sz="1100" dirty="0">
                <a:solidFill>
                  <a:srgbClr val="6B635B"/>
                </a:solidFill>
                <a:latin typeface="Calibri" pitchFamily="34" charset="0"/>
                <a:ea typeface="Calibri" pitchFamily="34" charset="-122"/>
                <a:cs typeface="Calibri" pitchFamily="34" charset="-120"/>
              </a:rPr>
              <a:t>Houston Strong CPA  |  Foster Care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THE SITUATION TODAY</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Nine reports. By hand. Every day.</a:t>
            </a:r>
            <a:endParaRPr lang="en-US" sz="3400" dirty="0"/>
          </a:p>
        </p:txBody>
      </p:sp>
      <p:sp>
        <p:nvSpPr>
          <p:cNvPr id="4" name="Shape 2"/>
          <p:cNvSpPr/>
          <p:nvPr/>
        </p:nvSpPr>
        <p:spPr>
          <a:xfrm>
            <a:off x="640080" y="1783080"/>
            <a:ext cx="2560320" cy="1691640"/>
          </a:xfrm>
          <a:prstGeom prst="roundRect">
            <a:avLst>
              <a:gd name="adj" fmla="val 3243"/>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5" name="Shape 3"/>
          <p:cNvSpPr/>
          <p:nvPr/>
        </p:nvSpPr>
        <p:spPr>
          <a:xfrm>
            <a:off x="868680" y="2011680"/>
            <a:ext cx="384048" cy="384048"/>
          </a:xfrm>
          <a:prstGeom prst="ellipse">
            <a:avLst/>
          </a:prstGeom>
          <a:solidFill>
            <a:srgbClr val="B85042"/>
          </a:solidFill>
          <a:ln w="12700">
            <a:solidFill>
              <a:srgbClr val="B85042"/>
            </a:solidFill>
            <a:prstDash val="solid"/>
          </a:ln>
        </p:spPr>
      </p:sp>
      <p:sp>
        <p:nvSpPr>
          <p:cNvPr id="6" name="Text 4"/>
          <p:cNvSpPr txBox="1"/>
          <p:nvPr/>
        </p:nvSpPr>
        <p:spPr>
          <a:xfrm>
            <a:off x="868680" y="2048256"/>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68680" y="2542032"/>
            <a:ext cx="2103120" cy="27432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Sign in</a:t>
            </a:r>
            <a:endParaRPr lang="en-US" sz="1500" dirty="0"/>
          </a:p>
        </p:txBody>
      </p:sp>
      <p:sp>
        <p:nvSpPr>
          <p:cNvPr id="8" name="Text 6"/>
          <p:cNvSpPr txBox="1"/>
          <p:nvPr/>
        </p:nvSpPr>
        <p:spPr>
          <a:xfrm>
            <a:off x="868680" y="2834640"/>
            <a:ext cx="2148840" cy="548640"/>
          </a:xfrm>
          <a:prstGeom prst="rect">
            <a:avLst/>
          </a:prstGeom>
          <a:noFill/>
          <a:ln/>
        </p:spPr>
        <p:txBody>
          <a:bodyPr wrap="square" lIns="0" tIns="0" rIns="0" bIns="0" rtlCol="0" anchor="ctr"/>
          <a:lstStyle/>
          <a:p>
            <a:pPr indent="0" marL="0">
              <a:buNone/>
            </a:pPr>
            <a:r>
              <a:rPr lang="en-US" sz="1150" dirty="0">
                <a:solidFill>
                  <a:srgbClr val="6B635B"/>
                </a:solidFill>
                <a:latin typeface="Calibri" pitchFamily="34" charset="0"/>
                <a:ea typeface="Calibri" pitchFamily="34" charset="-122"/>
                <a:cs typeface="Calibri" pitchFamily="34" charset="-120"/>
              </a:rPr>
              <a:t>Including the two-factor code</a:t>
            </a:r>
            <a:endParaRPr lang="en-US" sz="1150" dirty="0"/>
          </a:p>
        </p:txBody>
      </p:sp>
      <p:sp>
        <p:nvSpPr>
          <p:cNvPr id="9" name="Shape 7"/>
          <p:cNvSpPr/>
          <p:nvPr/>
        </p:nvSpPr>
        <p:spPr>
          <a:xfrm>
            <a:off x="3429000" y="1783080"/>
            <a:ext cx="2560320" cy="1691640"/>
          </a:xfrm>
          <a:prstGeom prst="roundRect">
            <a:avLst>
              <a:gd name="adj" fmla="val 3243"/>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10" name="Shape 8"/>
          <p:cNvSpPr/>
          <p:nvPr/>
        </p:nvSpPr>
        <p:spPr>
          <a:xfrm>
            <a:off x="3657600" y="2011680"/>
            <a:ext cx="384048" cy="384048"/>
          </a:xfrm>
          <a:prstGeom prst="ellipse">
            <a:avLst/>
          </a:prstGeom>
          <a:solidFill>
            <a:srgbClr val="B85042"/>
          </a:solidFill>
          <a:ln w="12700">
            <a:solidFill>
              <a:srgbClr val="B85042"/>
            </a:solidFill>
            <a:prstDash val="solid"/>
          </a:ln>
        </p:spPr>
      </p:sp>
      <p:sp>
        <p:nvSpPr>
          <p:cNvPr id="11" name="Text 9"/>
          <p:cNvSpPr txBox="1"/>
          <p:nvPr/>
        </p:nvSpPr>
        <p:spPr>
          <a:xfrm>
            <a:off x="3657600" y="2048256"/>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3657600" y="2542032"/>
            <a:ext cx="2103120" cy="27432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Open a report</a:t>
            </a:r>
            <a:endParaRPr lang="en-US" sz="1500" dirty="0"/>
          </a:p>
        </p:txBody>
      </p:sp>
      <p:sp>
        <p:nvSpPr>
          <p:cNvPr id="13" name="Text 11"/>
          <p:cNvSpPr txBox="1"/>
          <p:nvPr/>
        </p:nvSpPr>
        <p:spPr>
          <a:xfrm>
            <a:off x="3657600" y="2834640"/>
            <a:ext cx="2148840" cy="548640"/>
          </a:xfrm>
          <a:prstGeom prst="rect">
            <a:avLst/>
          </a:prstGeom>
          <a:noFill/>
          <a:ln/>
        </p:spPr>
        <p:txBody>
          <a:bodyPr wrap="square" lIns="0" tIns="0" rIns="0" bIns="0" rtlCol="0" anchor="ctr"/>
          <a:lstStyle/>
          <a:p>
            <a:pPr indent="0" marL="0">
              <a:buNone/>
            </a:pPr>
            <a:r>
              <a:rPr lang="en-US" sz="1150" dirty="0">
                <a:solidFill>
                  <a:srgbClr val="6B635B"/>
                </a:solidFill>
                <a:latin typeface="Calibri" pitchFamily="34" charset="0"/>
                <a:ea typeface="Calibri" pitchFamily="34" charset="-122"/>
                <a:cs typeface="Calibri" pitchFamily="34" charset="-120"/>
              </a:rPr>
              <a:t>Menu, submenu, apply filters</a:t>
            </a:r>
            <a:endParaRPr lang="en-US" sz="1150" dirty="0"/>
          </a:p>
        </p:txBody>
      </p:sp>
      <p:sp>
        <p:nvSpPr>
          <p:cNvPr id="14" name="Shape 12"/>
          <p:cNvSpPr/>
          <p:nvPr/>
        </p:nvSpPr>
        <p:spPr>
          <a:xfrm>
            <a:off x="6217920" y="1783080"/>
            <a:ext cx="2560320" cy="1691640"/>
          </a:xfrm>
          <a:prstGeom prst="roundRect">
            <a:avLst>
              <a:gd name="adj" fmla="val 3243"/>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15" name="Shape 13"/>
          <p:cNvSpPr/>
          <p:nvPr/>
        </p:nvSpPr>
        <p:spPr>
          <a:xfrm>
            <a:off x="6446520" y="2011680"/>
            <a:ext cx="384048" cy="384048"/>
          </a:xfrm>
          <a:prstGeom prst="ellipse">
            <a:avLst/>
          </a:prstGeom>
          <a:solidFill>
            <a:srgbClr val="B85042"/>
          </a:solidFill>
          <a:ln w="12700">
            <a:solidFill>
              <a:srgbClr val="B85042"/>
            </a:solidFill>
            <a:prstDash val="solid"/>
          </a:ln>
        </p:spPr>
      </p:sp>
      <p:sp>
        <p:nvSpPr>
          <p:cNvPr id="16" name="Text 14"/>
          <p:cNvSpPr txBox="1"/>
          <p:nvPr/>
        </p:nvSpPr>
        <p:spPr>
          <a:xfrm>
            <a:off x="6446520" y="2048256"/>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6446520" y="2542032"/>
            <a:ext cx="2103120" cy="27432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Click Excel</a:t>
            </a:r>
            <a:endParaRPr lang="en-US" sz="1500" dirty="0"/>
          </a:p>
        </p:txBody>
      </p:sp>
      <p:sp>
        <p:nvSpPr>
          <p:cNvPr id="18" name="Text 16"/>
          <p:cNvSpPr txBox="1"/>
          <p:nvPr/>
        </p:nvSpPr>
        <p:spPr>
          <a:xfrm>
            <a:off x="6446520" y="2834640"/>
            <a:ext cx="2148840" cy="548640"/>
          </a:xfrm>
          <a:prstGeom prst="rect">
            <a:avLst/>
          </a:prstGeom>
          <a:noFill/>
          <a:ln/>
        </p:spPr>
        <p:txBody>
          <a:bodyPr wrap="square" lIns="0" tIns="0" rIns="0" bIns="0" rtlCol="0" anchor="ctr"/>
          <a:lstStyle/>
          <a:p>
            <a:pPr indent="0" marL="0">
              <a:buNone/>
            </a:pPr>
            <a:r>
              <a:rPr lang="en-US" sz="1150" dirty="0">
                <a:solidFill>
                  <a:srgbClr val="6B635B"/>
                </a:solidFill>
                <a:latin typeface="Calibri" pitchFamily="34" charset="0"/>
                <a:ea typeface="Calibri" pitchFamily="34" charset="-122"/>
                <a:cs typeface="Calibri" pitchFamily="34" charset="-120"/>
              </a:rPr>
              <a:t>Wait for the download</a:t>
            </a:r>
            <a:endParaRPr lang="en-US" sz="1150" dirty="0"/>
          </a:p>
        </p:txBody>
      </p:sp>
      <p:sp>
        <p:nvSpPr>
          <p:cNvPr id="19" name="Shape 17"/>
          <p:cNvSpPr/>
          <p:nvPr/>
        </p:nvSpPr>
        <p:spPr>
          <a:xfrm>
            <a:off x="9006840" y="1783080"/>
            <a:ext cx="2560320" cy="1691640"/>
          </a:xfrm>
          <a:prstGeom prst="roundRect">
            <a:avLst>
              <a:gd name="adj" fmla="val 3243"/>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20" name="Shape 18"/>
          <p:cNvSpPr/>
          <p:nvPr/>
        </p:nvSpPr>
        <p:spPr>
          <a:xfrm>
            <a:off x="9235440" y="2011680"/>
            <a:ext cx="384048" cy="384048"/>
          </a:xfrm>
          <a:prstGeom prst="ellipse">
            <a:avLst/>
          </a:prstGeom>
          <a:solidFill>
            <a:srgbClr val="B85042"/>
          </a:solidFill>
          <a:ln w="12700">
            <a:solidFill>
              <a:srgbClr val="B85042"/>
            </a:solidFill>
            <a:prstDash val="solid"/>
          </a:ln>
        </p:spPr>
      </p:sp>
      <p:sp>
        <p:nvSpPr>
          <p:cNvPr id="21" name="Text 19"/>
          <p:cNvSpPr txBox="1"/>
          <p:nvPr/>
        </p:nvSpPr>
        <p:spPr>
          <a:xfrm>
            <a:off x="9235440" y="2048256"/>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9235440" y="2542032"/>
            <a:ext cx="2103120" cy="27432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Repeat  x9</a:t>
            </a:r>
            <a:endParaRPr lang="en-US" sz="1500" dirty="0"/>
          </a:p>
        </p:txBody>
      </p:sp>
      <p:sp>
        <p:nvSpPr>
          <p:cNvPr id="23" name="Text 21"/>
          <p:cNvSpPr txBox="1"/>
          <p:nvPr/>
        </p:nvSpPr>
        <p:spPr>
          <a:xfrm>
            <a:off x="9235440" y="2834640"/>
            <a:ext cx="2148840" cy="548640"/>
          </a:xfrm>
          <a:prstGeom prst="rect">
            <a:avLst/>
          </a:prstGeom>
          <a:noFill/>
          <a:ln/>
        </p:spPr>
        <p:txBody>
          <a:bodyPr wrap="square" lIns="0" tIns="0" rIns="0" bIns="0" rtlCol="0" anchor="ctr"/>
          <a:lstStyle/>
          <a:p>
            <a:pPr indent="0" marL="0">
              <a:buNone/>
            </a:pPr>
            <a:r>
              <a:rPr lang="en-US" sz="1150" dirty="0">
                <a:solidFill>
                  <a:srgbClr val="6B635B"/>
                </a:solidFill>
                <a:latin typeface="Calibri" pitchFamily="34" charset="0"/>
                <a:ea typeface="Calibri" pitchFamily="34" charset="-122"/>
                <a:cs typeface="Calibri" pitchFamily="34" charset="-120"/>
              </a:rPr>
              <a:t>Then file them somewhere</a:t>
            </a:r>
            <a:endParaRPr lang="en-US" sz="1150" dirty="0"/>
          </a:p>
        </p:txBody>
      </p:sp>
      <p:sp>
        <p:nvSpPr>
          <p:cNvPr id="24" name="Text 22"/>
          <p:cNvSpPr txBox="1"/>
          <p:nvPr/>
        </p:nvSpPr>
        <p:spPr>
          <a:xfrm>
            <a:off x="640080" y="3977640"/>
            <a:ext cx="10881360" cy="365760"/>
          </a:xfrm>
          <a:prstGeom prst="rect">
            <a:avLst/>
          </a:prstGeom>
          <a:noFill/>
          <a:ln/>
        </p:spPr>
        <p:txBody>
          <a:bodyPr wrap="square" lIns="0" tIns="0" rIns="0" bIns="0" rtlCol="0" anchor="ctr"/>
          <a:lstStyle/>
          <a:p>
            <a:pPr indent="0" marL="0">
              <a:buNone/>
            </a:pPr>
            <a:r>
              <a:rPr lang="en-US" sz="1600" b="1" dirty="0">
                <a:solidFill>
                  <a:srgbClr val="2A2622"/>
                </a:solidFill>
                <a:latin typeface="Calibri" pitchFamily="34" charset="0"/>
                <a:ea typeface="Calibri" pitchFamily="34" charset="-122"/>
                <a:cs typeface="Calibri" pitchFamily="34" charset="-120"/>
              </a:rPr>
              <a:t>Roughly 15–20 minutes a day</a:t>
            </a:r>
            <a:pPr indent="0" marL="0">
              <a:buNone/>
            </a:pPr>
            <a:r>
              <a:rPr lang="en-US" sz="1600" dirty="0">
                <a:solidFill>
                  <a:srgbClr val="2A2622"/>
                </a:solidFill>
                <a:latin typeface="Calibri" pitchFamily="34" charset="0"/>
                <a:ea typeface="Calibri" pitchFamily="34" charset="-122"/>
                <a:cs typeface="Calibri" pitchFamily="34" charset="-120"/>
              </a:rPr>
              <a:t>  — call it an hour and a half a week. But the cost is not really the minutes.</a:t>
            </a:r>
            <a:endParaRPr lang="en-US" sz="1600" dirty="0"/>
          </a:p>
        </p:txBody>
      </p:sp>
      <p:sp>
        <p:nvSpPr>
          <p:cNvPr id="25" name="Shape 23"/>
          <p:cNvSpPr/>
          <p:nvPr/>
        </p:nvSpPr>
        <p:spPr>
          <a:xfrm>
            <a:off x="640080" y="4572000"/>
            <a:ext cx="10881360" cy="1280160"/>
          </a:xfrm>
          <a:prstGeom prst="roundRect">
            <a:avLst>
              <a:gd name="adj" fmla="val 4286"/>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26" name="Text 24"/>
          <p:cNvSpPr txBox="1"/>
          <p:nvPr/>
        </p:nvSpPr>
        <p:spPr>
          <a:xfrm>
            <a:off x="960120" y="4800600"/>
            <a:ext cx="10241280" cy="868680"/>
          </a:xfrm>
          <a:prstGeom prst="rect">
            <a:avLst/>
          </a:prstGeom>
          <a:noFill/>
          <a:ln/>
        </p:spPr>
        <p:txBody>
          <a:bodyPr wrap="square" lIns="0" tIns="0" rIns="0" bIns="0" rtlCol="0" anchor="ctr"/>
          <a:lstStyle/>
          <a:p>
            <a:pPr indent="0" marL="0">
              <a:buNone/>
            </a:pPr>
            <a:r>
              <a:rPr lang="en-US" sz="1500" i="1" dirty="0">
                <a:solidFill>
                  <a:srgbClr val="2A2622"/>
                </a:solidFill>
                <a:latin typeface="Calibri" pitchFamily="34" charset="0"/>
                <a:ea typeface="Calibri" pitchFamily="34" charset="-122"/>
                <a:cs typeface="Calibri" pitchFamily="34" charset="-120"/>
              </a:rPr>
              <a:t>It is that when the day gets busy, this is the task that gets skipped. Then the numbers leadership is looking at are three days old, and nobody knows which three days.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WHY CURRENT DATA MATTERS</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What these reports are tracking</a:t>
            </a:r>
            <a:endParaRPr lang="en-US" sz="3400" dirty="0"/>
          </a:p>
        </p:txBody>
      </p:sp>
      <p:sp>
        <p:nvSpPr>
          <p:cNvPr id="4" name="Text 2"/>
          <p:cNvSpPr txBox="1"/>
          <p:nvPr/>
        </p:nvSpPr>
        <p:spPr>
          <a:xfrm>
            <a:off x="640080" y="1828800"/>
            <a:ext cx="3383280" cy="1051560"/>
          </a:xfrm>
          <a:prstGeom prst="rect">
            <a:avLst/>
          </a:prstGeom>
          <a:noFill/>
          <a:ln/>
        </p:spPr>
        <p:txBody>
          <a:bodyPr wrap="square" lIns="0" tIns="0" rIns="0" bIns="0" rtlCol="0" anchor="ctr"/>
          <a:lstStyle/>
          <a:p>
            <a:pPr indent="0" marL="0">
              <a:buNone/>
            </a:pPr>
            <a:r>
              <a:rPr lang="en-US" sz="6000" b="1" dirty="0">
                <a:solidFill>
                  <a:srgbClr val="B85042"/>
                </a:solidFill>
                <a:latin typeface="Century Schoolbook" pitchFamily="34" charset="0"/>
                <a:ea typeface="Century Schoolbook" pitchFamily="34" charset="-122"/>
                <a:cs typeface="Century Schoolbook" pitchFamily="34" charset="-120"/>
              </a:rPr>
              <a:t>1,556</a:t>
            </a:r>
            <a:endParaRPr lang="en-US" sz="6000" dirty="0"/>
          </a:p>
        </p:txBody>
      </p:sp>
      <p:sp>
        <p:nvSpPr>
          <p:cNvPr id="5" name="Text 3"/>
          <p:cNvSpPr txBox="1"/>
          <p:nvPr/>
        </p:nvSpPr>
        <p:spPr>
          <a:xfrm>
            <a:off x="640080" y="2880360"/>
            <a:ext cx="3383280" cy="32004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obligations overdue</a:t>
            </a:r>
            <a:endParaRPr lang="en-US" sz="1500" dirty="0"/>
          </a:p>
        </p:txBody>
      </p:sp>
      <p:sp>
        <p:nvSpPr>
          <p:cNvPr id="6" name="Text 4"/>
          <p:cNvSpPr txBox="1"/>
          <p:nvPr/>
        </p:nvSpPr>
        <p:spPr>
          <a:xfrm>
            <a:off x="640080" y="3200400"/>
            <a:ext cx="3383280" cy="457200"/>
          </a:xfrm>
          <a:prstGeom prst="rect">
            <a:avLst/>
          </a:prstGeom>
          <a:noFill/>
          <a:ln/>
        </p:spPr>
        <p:txBody>
          <a:bodyPr wrap="square" lIns="0" tIns="0" rIns="0" bIns="0" rtlCol="0" anchor="ctr"/>
          <a:lstStyle/>
          <a:p>
            <a:pPr indent="0" marL="0">
              <a:buNone/>
            </a:pPr>
            <a:r>
              <a:rPr lang="en-US" sz="1250" dirty="0">
                <a:solidFill>
                  <a:srgbClr val="6B635B"/>
                </a:solidFill>
                <a:latin typeface="Calibri" pitchFamily="34" charset="0"/>
                <a:ea typeface="Calibri" pitchFamily="34" charset="-122"/>
                <a:cs typeface="Calibri" pitchFamily="34" charset="-120"/>
              </a:rPr>
              <a:t>902 are actionable today</a:t>
            </a:r>
            <a:endParaRPr lang="en-US" sz="1250" dirty="0"/>
          </a:p>
        </p:txBody>
      </p:sp>
      <p:sp>
        <p:nvSpPr>
          <p:cNvPr id="7" name="Text 5"/>
          <p:cNvSpPr txBox="1"/>
          <p:nvPr/>
        </p:nvSpPr>
        <p:spPr>
          <a:xfrm>
            <a:off x="4343400" y="1828800"/>
            <a:ext cx="3383280" cy="1051560"/>
          </a:xfrm>
          <a:prstGeom prst="rect">
            <a:avLst/>
          </a:prstGeom>
          <a:noFill/>
          <a:ln/>
        </p:spPr>
        <p:txBody>
          <a:bodyPr wrap="square" lIns="0" tIns="0" rIns="0" bIns="0" rtlCol="0" anchor="ctr"/>
          <a:lstStyle/>
          <a:p>
            <a:pPr indent="0" marL="0">
              <a:buNone/>
            </a:pPr>
            <a:r>
              <a:rPr lang="en-US" sz="6000" b="1" dirty="0">
                <a:solidFill>
                  <a:srgbClr val="B85042"/>
                </a:solidFill>
                <a:latin typeface="Century Schoolbook" pitchFamily="34" charset="0"/>
                <a:ea typeface="Century Schoolbook" pitchFamily="34" charset="-122"/>
                <a:cs typeface="Century Schoolbook" pitchFamily="34" charset="-120"/>
              </a:rPr>
              <a:t>394</a:t>
            </a:r>
            <a:endParaRPr lang="en-US" sz="6000" dirty="0"/>
          </a:p>
        </p:txBody>
      </p:sp>
      <p:sp>
        <p:nvSpPr>
          <p:cNvPr id="8" name="Text 6"/>
          <p:cNvSpPr txBox="1"/>
          <p:nvPr/>
        </p:nvSpPr>
        <p:spPr>
          <a:xfrm>
            <a:off x="4343400" y="2880360"/>
            <a:ext cx="3383280" cy="32004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submissions awaiting approval</a:t>
            </a:r>
            <a:endParaRPr lang="en-US" sz="1500" dirty="0"/>
          </a:p>
        </p:txBody>
      </p:sp>
      <p:sp>
        <p:nvSpPr>
          <p:cNvPr id="9" name="Text 7"/>
          <p:cNvSpPr txBox="1"/>
          <p:nvPr/>
        </p:nvSpPr>
        <p:spPr>
          <a:xfrm>
            <a:off x="4343400" y="3200400"/>
            <a:ext cx="3383280" cy="457200"/>
          </a:xfrm>
          <a:prstGeom prst="rect">
            <a:avLst/>
          </a:prstGeom>
          <a:noFill/>
          <a:ln/>
        </p:spPr>
        <p:txBody>
          <a:bodyPr wrap="square" lIns="0" tIns="0" rIns="0" bIns="0" rtlCol="0" anchor="ctr"/>
          <a:lstStyle/>
          <a:p>
            <a:pPr indent="0" marL="0">
              <a:buNone/>
            </a:pPr>
            <a:r>
              <a:rPr lang="en-US" sz="1250" dirty="0">
                <a:solidFill>
                  <a:srgbClr val="6B635B"/>
                </a:solidFill>
                <a:latin typeface="Calibri" pitchFamily="34" charset="0"/>
                <a:ea typeface="Calibri" pitchFamily="34" charset="-122"/>
                <a:cs typeface="Calibri" pitchFamily="34" charset="-120"/>
              </a:rPr>
              <a:t>one approver holds 202 of them</a:t>
            </a:r>
            <a:endParaRPr lang="en-US" sz="1250" dirty="0"/>
          </a:p>
        </p:txBody>
      </p:sp>
      <p:sp>
        <p:nvSpPr>
          <p:cNvPr id="10" name="Text 8"/>
          <p:cNvSpPr txBox="1"/>
          <p:nvPr/>
        </p:nvSpPr>
        <p:spPr>
          <a:xfrm>
            <a:off x="8046720" y="1828800"/>
            <a:ext cx="3383280" cy="1051560"/>
          </a:xfrm>
          <a:prstGeom prst="rect">
            <a:avLst/>
          </a:prstGeom>
          <a:noFill/>
          <a:ln/>
        </p:spPr>
        <p:txBody>
          <a:bodyPr wrap="square" lIns="0" tIns="0" rIns="0" bIns="0" rtlCol="0" anchor="ctr"/>
          <a:lstStyle/>
          <a:p>
            <a:pPr indent="0" marL="0">
              <a:buNone/>
            </a:pPr>
            <a:r>
              <a:rPr lang="en-US" sz="6000" b="1" dirty="0">
                <a:solidFill>
                  <a:srgbClr val="B85042"/>
                </a:solidFill>
                <a:latin typeface="Century Schoolbook" pitchFamily="34" charset="0"/>
                <a:ea typeface="Century Schoolbook" pitchFamily="34" charset="-122"/>
                <a:cs typeface="Century Schoolbook" pitchFamily="34" charset="-120"/>
              </a:rPr>
              <a:t>41%</a:t>
            </a:r>
            <a:endParaRPr lang="en-US" sz="6000" dirty="0"/>
          </a:p>
        </p:txBody>
      </p:sp>
      <p:sp>
        <p:nvSpPr>
          <p:cNvPr id="11" name="Text 9"/>
          <p:cNvSpPr txBox="1"/>
          <p:nvPr/>
        </p:nvSpPr>
        <p:spPr>
          <a:xfrm>
            <a:off x="8046720" y="2880360"/>
            <a:ext cx="3383280" cy="32004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of work completed on time</a:t>
            </a:r>
            <a:endParaRPr lang="en-US" sz="1500" dirty="0"/>
          </a:p>
        </p:txBody>
      </p:sp>
      <p:sp>
        <p:nvSpPr>
          <p:cNvPr id="12" name="Text 10"/>
          <p:cNvSpPr txBox="1"/>
          <p:nvPr/>
        </p:nvSpPr>
        <p:spPr>
          <a:xfrm>
            <a:off x="8046720" y="3200400"/>
            <a:ext cx="3383280" cy="457200"/>
          </a:xfrm>
          <a:prstGeom prst="rect">
            <a:avLst/>
          </a:prstGeom>
          <a:noFill/>
          <a:ln/>
        </p:spPr>
        <p:txBody>
          <a:bodyPr wrap="square" lIns="0" tIns="0" rIns="0" bIns="0" rtlCol="0" anchor="ctr"/>
          <a:lstStyle/>
          <a:p>
            <a:pPr indent="0" marL="0">
              <a:buNone/>
            </a:pPr>
            <a:r>
              <a:rPr lang="en-US" sz="1250" dirty="0">
                <a:solidFill>
                  <a:srgbClr val="6B635B"/>
                </a:solidFill>
                <a:latin typeface="Calibri" pitchFamily="34" charset="0"/>
                <a:ea typeface="Calibri" pitchFamily="34" charset="-122"/>
                <a:cs typeface="Calibri" pitchFamily="34" charset="-120"/>
              </a:rPr>
              <a:t>across 3,184 completed items</a:t>
            </a:r>
            <a:endParaRPr lang="en-US" sz="1250" dirty="0"/>
          </a:p>
        </p:txBody>
      </p:sp>
      <p:sp>
        <p:nvSpPr>
          <p:cNvPr id="13" name="Shape 11"/>
          <p:cNvSpPr/>
          <p:nvPr/>
        </p:nvSpPr>
        <p:spPr>
          <a:xfrm>
            <a:off x="640080" y="4114800"/>
            <a:ext cx="10881360" cy="1600200"/>
          </a:xfrm>
          <a:prstGeom prst="roundRect">
            <a:avLst>
              <a:gd name="adj" fmla="val 3429"/>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14" name="Text 12"/>
          <p:cNvSpPr txBox="1"/>
          <p:nvPr/>
        </p:nvSpPr>
        <p:spPr>
          <a:xfrm>
            <a:off x="960120" y="4343400"/>
            <a:ext cx="10058400" cy="274320"/>
          </a:xfrm>
          <a:prstGeom prst="rect">
            <a:avLst/>
          </a:prstGeom>
          <a:noFill/>
          <a:ln/>
        </p:spPr>
        <p:txBody>
          <a:bodyPr wrap="square" lIns="0" tIns="0" rIns="0" bIns="0" rtlCol="0" anchor="ctr"/>
          <a:lstStyle/>
          <a:p>
            <a:pPr indent="0" marL="0">
              <a:buNone/>
            </a:pPr>
            <a:r>
              <a:rPr lang="en-US" sz="1400" b="1" dirty="0">
                <a:solidFill>
                  <a:srgbClr val="2A2622"/>
                </a:solidFill>
                <a:latin typeface="Calibri" pitchFamily="34" charset="0"/>
                <a:ea typeface="Calibri" pitchFamily="34" charset="-122"/>
                <a:cs typeface="Calibri" pitchFamily="34" charset="-120"/>
              </a:rPr>
              <a:t>These are our real figures, from the audit.</a:t>
            </a:r>
            <a:endParaRPr lang="en-US" sz="1400" dirty="0"/>
          </a:p>
        </p:txBody>
      </p:sp>
      <p:sp>
        <p:nvSpPr>
          <p:cNvPr id="15" name="Text 13"/>
          <p:cNvSpPr txBox="1"/>
          <p:nvPr/>
        </p:nvSpPr>
        <p:spPr>
          <a:xfrm>
            <a:off x="960120" y="4663440"/>
            <a:ext cx="10607040" cy="822960"/>
          </a:xfrm>
          <a:prstGeom prst="rect">
            <a:avLst/>
          </a:prstGeom>
          <a:noFill/>
          <a:ln/>
        </p:spPr>
        <p:txBody>
          <a:bodyPr wrap="square" lIns="0" tIns="0" rIns="0" bIns="0" rtlCol="0" anchor="ctr"/>
          <a:lstStyle/>
          <a:p>
            <a:pPr indent="0" marL="0">
              <a:buNone/>
            </a:pPr>
            <a:r>
              <a:rPr lang="en-US" sz="1400" dirty="0">
                <a:solidFill>
                  <a:srgbClr val="6B635B"/>
                </a:solidFill>
                <a:latin typeface="Calibri" pitchFamily="34" charset="0"/>
                <a:ea typeface="Calibri" pitchFamily="34" charset="-122"/>
                <a:cs typeface="Calibri" pitchFamily="34" charset="-120"/>
              </a:rPr>
              <a:t>They move every day. A backlog number from last Tuesday tells you very little about who needs help today — and the approval queue, which is the harder bottleneck, moves fastest of all.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THE PROPOSAL</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The same clicks, on a timer</a:t>
            </a:r>
            <a:endParaRPr lang="en-US" sz="3400" dirty="0"/>
          </a:p>
        </p:txBody>
      </p:sp>
      <p:sp>
        <p:nvSpPr>
          <p:cNvPr id="4" name="Shape 2"/>
          <p:cNvSpPr/>
          <p:nvPr/>
        </p:nvSpPr>
        <p:spPr>
          <a:xfrm>
            <a:off x="640080" y="1737360"/>
            <a:ext cx="5486400" cy="4023360"/>
          </a:xfrm>
          <a:prstGeom prst="roundRect">
            <a:avLst>
              <a:gd name="adj" fmla="val 1364"/>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5" name="Text 3"/>
          <p:cNvSpPr txBox="1"/>
          <p:nvPr/>
        </p:nvSpPr>
        <p:spPr>
          <a:xfrm>
            <a:off x="1005840" y="1965960"/>
            <a:ext cx="4754880" cy="320040"/>
          </a:xfrm>
          <a:prstGeom prst="rect">
            <a:avLst/>
          </a:prstGeom>
          <a:noFill/>
          <a:ln/>
        </p:spPr>
        <p:txBody>
          <a:bodyPr wrap="square" lIns="0" tIns="0" rIns="0" bIns="0" rtlCol="0" anchor="ctr"/>
          <a:lstStyle/>
          <a:p>
            <a:pPr indent="0" marL="0">
              <a:buNone/>
            </a:pPr>
            <a:r>
              <a:rPr lang="en-US" sz="1600" b="1" dirty="0">
                <a:solidFill>
                  <a:srgbClr val="2A2622"/>
                </a:solidFill>
                <a:latin typeface="Calibri" pitchFamily="34" charset="0"/>
                <a:ea typeface="Calibri" pitchFamily="34" charset="-122"/>
                <a:cs typeface="Calibri" pitchFamily="34" charset="-120"/>
              </a:rPr>
              <a:t>What it does, once a day</a:t>
            </a:r>
            <a:endParaRPr lang="en-US" sz="1600" dirty="0"/>
          </a:p>
        </p:txBody>
      </p:sp>
      <p:sp>
        <p:nvSpPr>
          <p:cNvPr id="6" name="Text 4"/>
          <p:cNvSpPr txBox="1"/>
          <p:nvPr/>
        </p:nvSpPr>
        <p:spPr>
          <a:xfrm>
            <a:off x="1005840" y="2377440"/>
            <a:ext cx="4754880" cy="310896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450" dirty="0">
                <a:solidFill>
                  <a:srgbClr val="2A2622"/>
                </a:solidFill>
                <a:latin typeface="Calibri" pitchFamily="34" charset="0"/>
                <a:ea typeface="Calibri" pitchFamily="34" charset="-122"/>
                <a:cs typeface="Calibri" pitchFamily="34" charset="-120"/>
              </a:rPr>
              <a:t>Opens a browser that is already signed in</a:t>
            </a:r>
            <a:endParaRPr lang="en-US" sz="1450" dirty="0"/>
          </a:p>
          <a:p>
            <a:pPr marL="342900" indent="-342900">
              <a:lnSpc>
                <a:spcPts val="2200"/>
              </a:lnSpc>
              <a:spcAft>
                <a:spcPts val="900"/>
              </a:spcAft>
              <a:buSzPct val="100000"/>
              <a:buChar char="•"/>
            </a:pPr>
            <a:r>
              <a:rPr lang="en-US" sz="1450" dirty="0">
                <a:solidFill>
                  <a:srgbClr val="2A2622"/>
                </a:solidFill>
                <a:latin typeface="Calibri" pitchFamily="34" charset="0"/>
                <a:ea typeface="Calibri" pitchFamily="34" charset="-122"/>
                <a:cs typeface="Calibri" pitchFamily="34" charset="-120"/>
              </a:rPr>
              <a:t>Goes to each of the nine reports in turn</a:t>
            </a:r>
            <a:endParaRPr lang="en-US" sz="1450" dirty="0"/>
          </a:p>
          <a:p>
            <a:pPr marL="342900" indent="-342900">
              <a:lnSpc>
                <a:spcPts val="2200"/>
              </a:lnSpc>
              <a:spcAft>
                <a:spcPts val="900"/>
              </a:spcAft>
              <a:buSzPct val="100000"/>
              <a:buChar char="•"/>
            </a:pPr>
            <a:r>
              <a:rPr lang="en-US" sz="1450" dirty="0">
                <a:solidFill>
                  <a:srgbClr val="2A2622"/>
                </a:solidFill>
                <a:latin typeface="Calibri" pitchFamily="34" charset="0"/>
                <a:ea typeface="Calibri" pitchFamily="34" charset="-122"/>
                <a:cs typeface="Calibri" pitchFamily="34" charset="-120"/>
              </a:rPr>
              <a:t>Clicks the same export button a person clicks</a:t>
            </a:r>
            <a:endParaRPr lang="en-US" sz="1450" dirty="0"/>
          </a:p>
          <a:p>
            <a:pPr marL="342900" indent="-342900">
              <a:lnSpc>
                <a:spcPts val="2200"/>
              </a:lnSpc>
              <a:spcAft>
                <a:spcPts val="900"/>
              </a:spcAft>
              <a:buSzPct val="100000"/>
              <a:buChar char="•"/>
            </a:pPr>
            <a:r>
              <a:rPr lang="en-US" sz="1450" dirty="0">
                <a:solidFill>
                  <a:srgbClr val="2A2622"/>
                </a:solidFill>
                <a:latin typeface="Calibri" pitchFamily="34" charset="0"/>
                <a:ea typeface="Calibri" pitchFamily="34" charset="-122"/>
                <a:cs typeface="Calibri" pitchFamily="34" charset="-120"/>
              </a:rPr>
              <a:t>Checks each file is genuinely the report</a:t>
            </a:r>
            <a:endParaRPr lang="en-US" sz="1450" dirty="0"/>
          </a:p>
          <a:p>
            <a:pPr marL="342900" indent="-342900">
              <a:lnSpc>
                <a:spcPts val="2200"/>
              </a:lnSpc>
              <a:spcAft>
                <a:spcPts val="900"/>
              </a:spcAft>
              <a:buSzPct val="100000"/>
              <a:buChar char="•"/>
            </a:pPr>
            <a:r>
              <a:rPr lang="en-US" sz="1450" dirty="0">
                <a:solidFill>
                  <a:srgbClr val="2A2622"/>
                </a:solidFill>
                <a:latin typeface="Calibri" pitchFamily="34" charset="0"/>
                <a:ea typeface="Calibri" pitchFamily="34" charset="-122"/>
                <a:cs typeface="Calibri" pitchFamily="34" charset="-120"/>
              </a:rPr>
              <a:t>Files it in Google Drive, named and dated</a:t>
            </a:r>
            <a:endParaRPr lang="en-US" sz="1450" dirty="0"/>
          </a:p>
          <a:p>
            <a:pPr marL="342900" indent="-342900">
              <a:lnSpc>
                <a:spcPts val="2200"/>
              </a:lnSpc>
              <a:spcAft>
                <a:spcPts val="900"/>
              </a:spcAft>
              <a:buSzPct val="100000"/>
              <a:buChar char="•"/>
            </a:pPr>
            <a:r>
              <a:rPr lang="en-US" sz="1450" dirty="0">
                <a:solidFill>
                  <a:srgbClr val="2A2622"/>
                </a:solidFill>
                <a:latin typeface="Calibri" pitchFamily="34" charset="0"/>
                <a:ea typeface="Calibri" pitchFamily="34" charset="-122"/>
                <a:cs typeface="Calibri" pitchFamily="34" charset="-120"/>
              </a:rPr>
              <a:t>Writes down what happened, for review</a:t>
            </a:r>
            <a:endParaRPr lang="en-US" sz="1450" dirty="0"/>
          </a:p>
        </p:txBody>
      </p:sp>
      <p:sp>
        <p:nvSpPr>
          <p:cNvPr id="7" name="Shape 5"/>
          <p:cNvSpPr/>
          <p:nvPr/>
        </p:nvSpPr>
        <p:spPr>
          <a:xfrm>
            <a:off x="6492240" y="1737360"/>
            <a:ext cx="5029200" cy="4023360"/>
          </a:xfrm>
          <a:prstGeom prst="roundRect">
            <a:avLst>
              <a:gd name="adj" fmla="val 1364"/>
            </a:avLst>
          </a:prstGeom>
          <a:solidFill>
            <a:srgbClr val="2A2622"/>
          </a:solidFill>
          <a:ln w="12700">
            <a:solidFill>
              <a:srgbClr val="2A2622"/>
            </a:solidFill>
            <a:prstDash val="solid"/>
          </a:ln>
          <a:effectLst>
            <a:outerShdw sx="100000" sy="100000" kx="0" ky="0" algn="bl" rotWithShape="0" blurRad="101600" dist="12700" dir="5400000">
              <a:srgbClr val="000000">
                <a:alpha val="7000"/>
              </a:srgbClr>
            </a:outerShdw>
          </a:effectLst>
        </p:spPr>
      </p:sp>
      <p:sp>
        <p:nvSpPr>
          <p:cNvPr id="8" name="Text 6"/>
          <p:cNvSpPr txBox="1"/>
          <p:nvPr/>
        </p:nvSpPr>
        <p:spPr>
          <a:xfrm>
            <a:off x="6858000" y="1965960"/>
            <a:ext cx="4572000" cy="320040"/>
          </a:xfrm>
          <a:prstGeom prst="rect">
            <a:avLst/>
          </a:prstGeom>
          <a:noFill/>
          <a:ln/>
        </p:spPr>
        <p:txBody>
          <a:bodyPr wrap="square" lIns="0" tIns="0" rIns="0" bIns="0" rtlCol="0" anchor="ctr"/>
          <a:lstStyle/>
          <a:p>
            <a:pPr indent="0" marL="0">
              <a:buNone/>
            </a:pPr>
            <a:r>
              <a:rPr lang="en-US" sz="1600" b="1" dirty="0">
                <a:solidFill>
                  <a:srgbClr val="6E8B7B"/>
                </a:solidFill>
                <a:latin typeface="Calibri" pitchFamily="34" charset="0"/>
                <a:ea typeface="Calibri" pitchFamily="34" charset="-122"/>
                <a:cs typeface="Calibri" pitchFamily="34" charset="-120"/>
              </a:rPr>
              <a:t>What it is not</a:t>
            </a:r>
            <a:endParaRPr lang="en-US" sz="1600" dirty="0"/>
          </a:p>
        </p:txBody>
      </p:sp>
      <p:sp>
        <p:nvSpPr>
          <p:cNvPr id="9" name="Text 7"/>
          <p:cNvSpPr txBox="1"/>
          <p:nvPr/>
        </p:nvSpPr>
        <p:spPr>
          <a:xfrm>
            <a:off x="6858000" y="2377440"/>
            <a:ext cx="4480560" cy="8229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It is not an AI reading our case files and deciding things.</a:t>
            </a:r>
            <a:endParaRPr lang="en-US" sz="1500" dirty="0"/>
          </a:p>
        </p:txBody>
      </p:sp>
      <p:sp>
        <p:nvSpPr>
          <p:cNvPr id="10" name="Text 8"/>
          <p:cNvSpPr txBox="1"/>
          <p:nvPr/>
        </p:nvSpPr>
        <p:spPr>
          <a:xfrm>
            <a:off x="6858000" y="3200400"/>
            <a:ext cx="4480560" cy="1645920"/>
          </a:xfrm>
          <a:prstGeom prst="rect">
            <a:avLst/>
          </a:prstGeom>
          <a:noFill/>
          <a:ln/>
        </p:spPr>
        <p:txBody>
          <a:bodyPr wrap="square" lIns="0" tIns="0" rIns="0" bIns="0" rtlCol="0" anchor="ctr"/>
          <a:lstStyle/>
          <a:p>
            <a:pPr indent="0" marL="0">
              <a:buNone/>
            </a:pPr>
            <a:r>
              <a:rPr lang="en-US" sz="1400" dirty="0">
                <a:solidFill>
                  <a:srgbClr val="C9C2B8"/>
                </a:solidFill>
                <a:latin typeface="Calibri" pitchFamily="34" charset="0"/>
                <a:ea typeface="Calibri" pitchFamily="34" charset="-122"/>
                <a:cs typeface="Calibri" pitchFamily="34" charset="-120"/>
              </a:rPr>
              <a:t>It presses fixed buttons in a fixed order. It cannot create, edit, approve, reject, submit or delete anything in ExtendedReach — that is built into how it works, not a policy we are trusting it to follow.</a:t>
            </a:r>
            <a:endParaRPr lang="en-US" sz="1400" dirty="0"/>
          </a:p>
        </p:txBody>
      </p:sp>
      <p:sp>
        <p:nvSpPr>
          <p:cNvPr id="11" name="Text 9"/>
          <p:cNvSpPr txBox="1"/>
          <p:nvPr/>
        </p:nvSpPr>
        <p:spPr>
          <a:xfrm>
            <a:off x="6858000" y="5029200"/>
            <a:ext cx="4480560" cy="365760"/>
          </a:xfrm>
          <a:prstGeom prst="rect">
            <a:avLst/>
          </a:prstGeom>
          <a:noFill/>
          <a:ln/>
        </p:spPr>
        <p:txBody>
          <a:bodyPr wrap="square" lIns="0" tIns="0" rIns="0" bIns="0" rtlCol="0" anchor="ctr"/>
          <a:lstStyle/>
          <a:p>
            <a:pPr indent="0" marL="0">
              <a:buNone/>
            </a:pPr>
            <a:r>
              <a:rPr lang="en-US" sz="1500" b="1" i="1" dirty="0">
                <a:solidFill>
                  <a:srgbClr val="6E8B7B"/>
                </a:solidFill>
                <a:latin typeface="Calibri" pitchFamily="34" charset="0"/>
                <a:ea typeface="Calibri" pitchFamily="34" charset="-122"/>
                <a:cs typeface="Calibri" pitchFamily="34" charset="-120"/>
              </a:rPr>
              <a:t>Read-only. By construction.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PROTECTING THE DATA</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These are children's records</a:t>
            </a:r>
            <a:endParaRPr lang="en-US" sz="3400" dirty="0"/>
          </a:p>
        </p:txBody>
      </p:sp>
      <p:sp>
        <p:nvSpPr>
          <p:cNvPr id="4" name="Shape 2"/>
          <p:cNvSpPr/>
          <p:nvPr/>
        </p:nvSpPr>
        <p:spPr>
          <a:xfrm>
            <a:off x="640080" y="1792224"/>
            <a:ext cx="310896" cy="310896"/>
          </a:xfrm>
          <a:prstGeom prst="ellipse">
            <a:avLst/>
          </a:prstGeom>
          <a:solidFill>
            <a:srgbClr val="6E8B7B"/>
          </a:solidFill>
          <a:ln w="12700">
            <a:solidFill>
              <a:srgbClr val="6E8B7B"/>
            </a:solidFill>
            <a:prstDash val="solid"/>
          </a:ln>
        </p:spPr>
      </p:sp>
      <p:sp>
        <p:nvSpPr>
          <p:cNvPr id="5" name="Text 3"/>
          <p:cNvSpPr txBox="1"/>
          <p:nvPr/>
        </p:nvSpPr>
        <p:spPr>
          <a:xfrm>
            <a:off x="1143000" y="1737360"/>
            <a:ext cx="4206240" cy="36576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Nobody's password is stored</a:t>
            </a:r>
            <a:endParaRPr lang="en-US" sz="1500" dirty="0"/>
          </a:p>
        </p:txBody>
      </p:sp>
      <p:sp>
        <p:nvSpPr>
          <p:cNvPr id="6" name="Text 4"/>
          <p:cNvSpPr txBox="1"/>
          <p:nvPr/>
        </p:nvSpPr>
        <p:spPr>
          <a:xfrm>
            <a:off x="5029200" y="1719072"/>
            <a:ext cx="6492240" cy="914400"/>
          </a:xfrm>
          <a:prstGeom prst="rect">
            <a:avLst/>
          </a:prstGeom>
          <a:noFill/>
          <a:ln/>
        </p:spPr>
        <p:txBody>
          <a:bodyPr wrap="square" lIns="0" tIns="0" rIns="0" bIns="0" rtlCol="0" anchor="ctr"/>
          <a:lstStyle/>
          <a:p>
            <a:pPr indent="0" marL="0">
              <a:buNone/>
            </a:pPr>
            <a:r>
              <a:rPr lang="en-US" sz="1350" dirty="0">
                <a:solidFill>
                  <a:srgbClr val="6B635B"/>
                </a:solidFill>
                <a:latin typeface="Calibri" pitchFamily="34" charset="0"/>
                <a:ea typeface="Calibri" pitchFamily="34" charset="-122"/>
                <a:cs typeface="Calibri" pitchFamily="34" charset="-120"/>
              </a:rPr>
              <a:t>A person signs in once, by hand. There is no place in the system to put a password, and no code that types one.</a:t>
            </a:r>
            <a:endParaRPr lang="en-US" sz="1350" dirty="0"/>
          </a:p>
        </p:txBody>
      </p:sp>
      <p:sp>
        <p:nvSpPr>
          <p:cNvPr id="7" name="Shape 5"/>
          <p:cNvSpPr/>
          <p:nvPr/>
        </p:nvSpPr>
        <p:spPr>
          <a:xfrm>
            <a:off x="640080" y="2843784"/>
            <a:ext cx="310896" cy="310896"/>
          </a:xfrm>
          <a:prstGeom prst="ellipse">
            <a:avLst/>
          </a:prstGeom>
          <a:solidFill>
            <a:srgbClr val="6E8B7B"/>
          </a:solidFill>
          <a:ln w="12700">
            <a:solidFill>
              <a:srgbClr val="6E8B7B"/>
            </a:solidFill>
            <a:prstDash val="solid"/>
          </a:ln>
        </p:spPr>
      </p:sp>
      <p:sp>
        <p:nvSpPr>
          <p:cNvPr id="8" name="Text 6"/>
          <p:cNvSpPr txBox="1"/>
          <p:nvPr/>
        </p:nvSpPr>
        <p:spPr>
          <a:xfrm>
            <a:off x="1143000" y="2788920"/>
            <a:ext cx="4206240" cy="36576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It cannot change anything</a:t>
            </a:r>
            <a:endParaRPr lang="en-US" sz="1500" dirty="0"/>
          </a:p>
        </p:txBody>
      </p:sp>
      <p:sp>
        <p:nvSpPr>
          <p:cNvPr id="9" name="Text 7"/>
          <p:cNvSpPr txBox="1"/>
          <p:nvPr/>
        </p:nvSpPr>
        <p:spPr>
          <a:xfrm>
            <a:off x="5029200" y="2770632"/>
            <a:ext cx="6492240" cy="914400"/>
          </a:xfrm>
          <a:prstGeom prst="rect">
            <a:avLst/>
          </a:prstGeom>
          <a:noFill/>
          <a:ln/>
        </p:spPr>
        <p:txBody>
          <a:bodyPr wrap="square" lIns="0" tIns="0" rIns="0" bIns="0" rtlCol="0" anchor="ctr"/>
          <a:lstStyle/>
          <a:p>
            <a:pPr indent="0" marL="0">
              <a:buNone/>
            </a:pPr>
            <a:r>
              <a:rPr lang="en-US" sz="1350" dirty="0">
                <a:solidFill>
                  <a:srgbClr val="6B635B"/>
                </a:solidFill>
                <a:latin typeface="Calibri" pitchFamily="34" charset="0"/>
                <a:ea typeface="Calibri" pitchFamily="34" charset="-122"/>
                <a:cs typeface="Calibri" pitchFamily="34" charset="-120"/>
              </a:rPr>
              <a:t>Only a fixed list of read-only actions is possible. It refuses to even visit a page whose address contains words like delete or approve.</a:t>
            </a:r>
            <a:endParaRPr lang="en-US" sz="1350" dirty="0"/>
          </a:p>
        </p:txBody>
      </p:sp>
      <p:sp>
        <p:nvSpPr>
          <p:cNvPr id="10" name="Shape 8"/>
          <p:cNvSpPr/>
          <p:nvPr/>
        </p:nvSpPr>
        <p:spPr>
          <a:xfrm>
            <a:off x="640080" y="3895344"/>
            <a:ext cx="310896" cy="310896"/>
          </a:xfrm>
          <a:prstGeom prst="ellipse">
            <a:avLst/>
          </a:prstGeom>
          <a:solidFill>
            <a:srgbClr val="6E8B7B"/>
          </a:solidFill>
          <a:ln w="12700">
            <a:solidFill>
              <a:srgbClr val="6E8B7B"/>
            </a:solidFill>
            <a:prstDash val="solid"/>
          </a:ln>
        </p:spPr>
      </p:sp>
      <p:sp>
        <p:nvSpPr>
          <p:cNvPr id="11" name="Text 9"/>
          <p:cNvSpPr txBox="1"/>
          <p:nvPr/>
        </p:nvSpPr>
        <p:spPr>
          <a:xfrm>
            <a:off x="1143000" y="3840480"/>
            <a:ext cx="4206240" cy="36576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Nothing is filed unchecked</a:t>
            </a:r>
            <a:endParaRPr lang="en-US" sz="1500" dirty="0"/>
          </a:p>
        </p:txBody>
      </p:sp>
      <p:sp>
        <p:nvSpPr>
          <p:cNvPr id="12" name="Text 10"/>
          <p:cNvSpPr txBox="1"/>
          <p:nvPr/>
        </p:nvSpPr>
        <p:spPr>
          <a:xfrm>
            <a:off x="5029200" y="3822192"/>
            <a:ext cx="6492240" cy="914400"/>
          </a:xfrm>
          <a:prstGeom prst="rect">
            <a:avLst/>
          </a:prstGeom>
          <a:noFill/>
          <a:ln/>
        </p:spPr>
        <p:txBody>
          <a:bodyPr wrap="square" lIns="0" tIns="0" rIns="0" bIns="0" rtlCol="0" anchor="ctr"/>
          <a:lstStyle/>
          <a:p>
            <a:pPr indent="0" marL="0">
              <a:buNone/>
            </a:pPr>
            <a:r>
              <a:rPr lang="en-US" sz="1350" dirty="0">
                <a:solidFill>
                  <a:srgbClr val="6B635B"/>
                </a:solidFill>
                <a:latin typeface="Calibri" pitchFamily="34" charset="0"/>
                <a:ea typeface="Calibri" pitchFamily="34" charset="-122"/>
                <a:cs typeface="Calibri" pitchFamily="34" charset="-120"/>
              </a:rPr>
              <a:t>Every file is opened and verified before it is uploaded. A failed export is never passed off as a real report.</a:t>
            </a:r>
            <a:endParaRPr lang="en-US" sz="1350" dirty="0"/>
          </a:p>
        </p:txBody>
      </p:sp>
      <p:sp>
        <p:nvSpPr>
          <p:cNvPr id="13" name="Shape 11"/>
          <p:cNvSpPr/>
          <p:nvPr/>
        </p:nvSpPr>
        <p:spPr>
          <a:xfrm>
            <a:off x="640080" y="4946904"/>
            <a:ext cx="310896" cy="310896"/>
          </a:xfrm>
          <a:prstGeom prst="ellipse">
            <a:avLst/>
          </a:prstGeom>
          <a:solidFill>
            <a:srgbClr val="6E8B7B"/>
          </a:solidFill>
          <a:ln w="12700">
            <a:solidFill>
              <a:srgbClr val="6E8B7B"/>
            </a:solidFill>
            <a:prstDash val="solid"/>
          </a:ln>
        </p:spPr>
      </p:sp>
      <p:sp>
        <p:nvSpPr>
          <p:cNvPr id="14" name="Text 12"/>
          <p:cNvSpPr txBox="1"/>
          <p:nvPr/>
        </p:nvSpPr>
        <p:spPr>
          <a:xfrm>
            <a:off x="1143000" y="4892040"/>
            <a:ext cx="4206240" cy="365760"/>
          </a:xfrm>
          <a:prstGeom prst="rect">
            <a:avLst/>
          </a:prstGeom>
          <a:noFill/>
          <a:ln/>
        </p:spPr>
        <p:txBody>
          <a:bodyPr wrap="square" lIns="0" tIns="0" rIns="0" bIns="0" rtlCol="0" anchor="ctr"/>
          <a:lstStyle/>
          <a:p>
            <a:pPr indent="0" marL="0">
              <a:buNone/>
            </a:pPr>
            <a:r>
              <a:rPr lang="en-US" sz="1500" b="1" dirty="0">
                <a:solidFill>
                  <a:srgbClr val="2A2622"/>
                </a:solidFill>
                <a:latin typeface="Calibri" pitchFamily="34" charset="0"/>
                <a:ea typeface="Calibri" pitchFamily="34" charset="-122"/>
                <a:cs typeface="Calibri" pitchFamily="34" charset="-120"/>
              </a:rPr>
              <a:t>No case details in the logs</a:t>
            </a:r>
            <a:endParaRPr lang="en-US" sz="1500" dirty="0"/>
          </a:p>
        </p:txBody>
      </p:sp>
      <p:sp>
        <p:nvSpPr>
          <p:cNvPr id="15" name="Text 13"/>
          <p:cNvSpPr txBox="1"/>
          <p:nvPr/>
        </p:nvSpPr>
        <p:spPr>
          <a:xfrm>
            <a:off x="5029200" y="4873752"/>
            <a:ext cx="6492240" cy="914400"/>
          </a:xfrm>
          <a:prstGeom prst="rect">
            <a:avLst/>
          </a:prstGeom>
          <a:noFill/>
          <a:ln/>
        </p:spPr>
        <p:txBody>
          <a:bodyPr wrap="square" lIns="0" tIns="0" rIns="0" bIns="0" rtlCol="0" anchor="ctr"/>
          <a:lstStyle/>
          <a:p>
            <a:pPr indent="0" marL="0">
              <a:buNone/>
            </a:pPr>
            <a:r>
              <a:rPr lang="en-US" sz="1350" dirty="0">
                <a:solidFill>
                  <a:srgbClr val="6B635B"/>
                </a:solidFill>
                <a:latin typeface="Calibri" pitchFamily="34" charset="0"/>
                <a:ea typeface="Calibri" pitchFamily="34" charset="-122"/>
                <a:cs typeface="Calibri" pitchFamily="34" charset="-120"/>
              </a:rPr>
              <a:t>The record of what happened is scrubbed automatically. It says which report and whether it worked, never who is in it.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WHERE IT STANDS</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Built and tested. Not yet connected.</a:t>
            </a:r>
            <a:endParaRPr lang="en-US" sz="3400" dirty="0"/>
          </a:p>
        </p:txBody>
      </p:sp>
      <p:sp>
        <p:nvSpPr>
          <p:cNvPr id="4" name="Shape 2"/>
          <p:cNvSpPr/>
          <p:nvPr/>
        </p:nvSpPr>
        <p:spPr>
          <a:xfrm>
            <a:off x="640080" y="1783080"/>
            <a:ext cx="5394960" cy="1874520"/>
          </a:xfrm>
          <a:prstGeom prst="roundRect">
            <a:avLst>
              <a:gd name="adj" fmla="val 2927"/>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5" name="Text 3"/>
          <p:cNvSpPr txBox="1"/>
          <p:nvPr/>
        </p:nvSpPr>
        <p:spPr>
          <a:xfrm>
            <a:off x="1005840" y="2011680"/>
            <a:ext cx="4572000" cy="292608"/>
          </a:xfrm>
          <a:prstGeom prst="rect">
            <a:avLst/>
          </a:prstGeom>
          <a:noFill/>
          <a:ln/>
        </p:spPr>
        <p:txBody>
          <a:bodyPr wrap="square" lIns="0" tIns="0" rIns="0" bIns="0" rtlCol="0" anchor="ctr"/>
          <a:lstStyle/>
          <a:p>
            <a:pPr indent="0" marL="0">
              <a:buNone/>
            </a:pPr>
            <a:r>
              <a:rPr lang="en-US" sz="1500" b="1" dirty="0">
                <a:solidFill>
                  <a:srgbClr val="6E8B7B"/>
                </a:solidFill>
                <a:latin typeface="Calibri" pitchFamily="34" charset="0"/>
                <a:ea typeface="Calibri" pitchFamily="34" charset="-122"/>
                <a:cs typeface="Calibri" pitchFamily="34" charset="-120"/>
              </a:rPr>
              <a:t>Done</a:t>
            </a:r>
            <a:endParaRPr lang="en-US" sz="1500" dirty="0"/>
          </a:p>
        </p:txBody>
      </p:sp>
      <p:sp>
        <p:nvSpPr>
          <p:cNvPr id="6" name="Text 4"/>
          <p:cNvSpPr txBox="1"/>
          <p:nvPr/>
        </p:nvSpPr>
        <p:spPr>
          <a:xfrm>
            <a:off x="1005840" y="2377440"/>
            <a:ext cx="4572000" cy="118872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350" dirty="0">
                <a:solidFill>
                  <a:srgbClr val="2A2622"/>
                </a:solidFill>
                <a:latin typeface="Calibri" pitchFamily="34" charset="0"/>
                <a:ea typeface="Calibri" pitchFamily="34" charset="-122"/>
                <a:cs typeface="Calibri" pitchFamily="34" charset="-120"/>
              </a:rPr>
              <a:t>The software is written and reviewed</a:t>
            </a:r>
            <a:endParaRPr lang="en-US" sz="1350" dirty="0"/>
          </a:p>
          <a:p>
            <a:pPr marL="342900" indent="-342900">
              <a:lnSpc>
                <a:spcPts val="2200"/>
              </a:lnSpc>
              <a:spcAft>
                <a:spcPts val="900"/>
              </a:spcAft>
              <a:buSzPct val="100000"/>
              <a:buChar char="•"/>
            </a:pPr>
            <a:r>
              <a:rPr lang="en-US" sz="1350" dirty="0">
                <a:solidFill>
                  <a:srgbClr val="2A2622"/>
                </a:solidFill>
                <a:latin typeface="Calibri" pitchFamily="34" charset="0"/>
                <a:ea typeface="Calibri" pitchFamily="34" charset="-122"/>
                <a:cs typeface="Calibri" pitchFamily="34" charset="-120"/>
              </a:rPr>
              <a:t>129 automated checks pass</a:t>
            </a:r>
            <a:endParaRPr lang="en-US" sz="1350" dirty="0"/>
          </a:p>
          <a:p>
            <a:pPr marL="342900" indent="-342900">
              <a:lnSpc>
                <a:spcPts val="2200"/>
              </a:lnSpc>
              <a:spcAft>
                <a:spcPts val="900"/>
              </a:spcAft>
              <a:buSzPct val="100000"/>
              <a:buChar char="•"/>
            </a:pPr>
            <a:r>
              <a:rPr lang="en-US" sz="1350" dirty="0">
                <a:solidFill>
                  <a:srgbClr val="2A2622"/>
                </a:solidFill>
                <a:latin typeface="Calibri" pitchFamily="34" charset="0"/>
                <a:ea typeface="Calibri" pitchFamily="34" charset="-122"/>
                <a:cs typeface="Calibri" pitchFamily="34" charset="-120"/>
              </a:rPr>
              <a:t>Handles all nine reports</a:t>
            </a:r>
            <a:endParaRPr lang="en-US" sz="1350" dirty="0"/>
          </a:p>
        </p:txBody>
      </p:sp>
      <p:sp>
        <p:nvSpPr>
          <p:cNvPr id="7" name="Shape 5"/>
          <p:cNvSpPr/>
          <p:nvPr/>
        </p:nvSpPr>
        <p:spPr>
          <a:xfrm>
            <a:off x="6400800" y="1783080"/>
            <a:ext cx="5120640" cy="1874520"/>
          </a:xfrm>
          <a:prstGeom prst="roundRect">
            <a:avLst>
              <a:gd name="adj" fmla="val 2927"/>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8" name="Text 6"/>
          <p:cNvSpPr txBox="1"/>
          <p:nvPr/>
        </p:nvSpPr>
        <p:spPr>
          <a:xfrm>
            <a:off x="6766560" y="2011680"/>
            <a:ext cx="4572000" cy="292608"/>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Not done</a:t>
            </a:r>
            <a:endParaRPr lang="en-US" sz="1500" dirty="0"/>
          </a:p>
        </p:txBody>
      </p:sp>
      <p:sp>
        <p:nvSpPr>
          <p:cNvPr id="9" name="Text 7"/>
          <p:cNvSpPr txBox="1"/>
          <p:nvPr/>
        </p:nvSpPr>
        <p:spPr>
          <a:xfrm>
            <a:off x="6766560" y="2377440"/>
            <a:ext cx="4572000" cy="1188720"/>
          </a:xfrm>
          <a:prstGeom prst="rect">
            <a:avLst/>
          </a:prstGeom>
          <a:noFill/>
          <a:ln/>
        </p:spPr>
        <p:txBody>
          <a:bodyPr wrap="square" lIns="0" tIns="0" rIns="0" bIns="0" rtlCol="0" anchor="ctr"/>
          <a:lstStyle/>
          <a:p>
            <a:pPr marL="342900" indent="-342900">
              <a:lnSpc>
                <a:spcPts val="2200"/>
              </a:lnSpc>
              <a:spcAft>
                <a:spcPts val="900"/>
              </a:spcAft>
              <a:buSzPct val="100000"/>
              <a:buChar char="•"/>
            </a:pPr>
            <a:r>
              <a:rPr lang="en-US" sz="1350" dirty="0">
                <a:solidFill>
                  <a:srgbClr val="2A2622"/>
                </a:solidFill>
                <a:latin typeface="Calibri" pitchFamily="34" charset="0"/>
                <a:ea typeface="Calibri" pitchFamily="34" charset="-122"/>
                <a:cs typeface="Calibri" pitchFamily="34" charset="-120"/>
              </a:rPr>
              <a:t>It has never touched our portal</a:t>
            </a:r>
            <a:endParaRPr lang="en-US" sz="1350" dirty="0"/>
          </a:p>
          <a:p>
            <a:pPr marL="342900" indent="-342900">
              <a:lnSpc>
                <a:spcPts val="2200"/>
              </a:lnSpc>
              <a:spcAft>
                <a:spcPts val="900"/>
              </a:spcAft>
              <a:buSzPct val="100000"/>
              <a:buChar char="•"/>
            </a:pPr>
            <a:r>
              <a:rPr lang="en-US" sz="1350" dirty="0">
                <a:solidFill>
                  <a:srgbClr val="2A2622"/>
                </a:solidFill>
                <a:latin typeface="Calibri" pitchFamily="34" charset="0"/>
                <a:ea typeface="Calibri" pitchFamily="34" charset="-122"/>
                <a:cs typeface="Calibri" pitchFamily="34" charset="-120"/>
              </a:rPr>
              <a:t>Needs one sitting to point it at our reports</a:t>
            </a:r>
            <a:endParaRPr lang="en-US" sz="1350" dirty="0"/>
          </a:p>
          <a:p>
            <a:pPr marL="342900" indent="-342900">
              <a:lnSpc>
                <a:spcPts val="2200"/>
              </a:lnSpc>
              <a:spcAft>
                <a:spcPts val="900"/>
              </a:spcAft>
              <a:buSzPct val="100000"/>
              <a:buChar char="•"/>
            </a:pPr>
            <a:r>
              <a:rPr lang="en-US" sz="1350" dirty="0">
                <a:solidFill>
                  <a:srgbClr val="2A2622"/>
                </a:solidFill>
                <a:latin typeface="Calibri" pitchFamily="34" charset="0"/>
                <a:ea typeface="Calibri" pitchFamily="34" charset="-122"/>
                <a:cs typeface="Calibri" pitchFamily="34" charset="-120"/>
              </a:rPr>
              <a:t>Then a supervised first run</a:t>
            </a:r>
            <a:endParaRPr lang="en-US" sz="1350" dirty="0"/>
          </a:p>
        </p:txBody>
      </p:sp>
      <p:sp>
        <p:nvSpPr>
          <p:cNvPr id="10" name="Shape 8"/>
          <p:cNvSpPr/>
          <p:nvPr/>
        </p:nvSpPr>
        <p:spPr>
          <a:xfrm>
            <a:off x="640080" y="3931920"/>
            <a:ext cx="10881360" cy="1737360"/>
          </a:xfrm>
          <a:prstGeom prst="roundRect">
            <a:avLst>
              <a:gd name="adj" fmla="val 3158"/>
            </a:avLst>
          </a:prstGeom>
          <a:solidFill>
            <a:srgbClr val="2A2622"/>
          </a:solidFill>
          <a:ln w="12700">
            <a:solidFill>
              <a:srgbClr val="2A2622"/>
            </a:solidFill>
            <a:prstDash val="solid"/>
          </a:ln>
          <a:effectLst>
            <a:outerShdw sx="100000" sy="100000" kx="0" ky="0" algn="bl" rotWithShape="0" blurRad="101600" dist="12700" dir="5400000">
              <a:srgbClr val="000000">
                <a:alpha val="7000"/>
              </a:srgbClr>
            </a:outerShdw>
          </a:effectLst>
        </p:spPr>
      </p:sp>
      <p:sp>
        <p:nvSpPr>
          <p:cNvPr id="11" name="Text 9"/>
          <p:cNvSpPr txBox="1"/>
          <p:nvPr/>
        </p:nvSpPr>
        <p:spPr>
          <a:xfrm>
            <a:off x="1005840" y="4160520"/>
            <a:ext cx="10515600" cy="292608"/>
          </a:xfrm>
          <a:prstGeom prst="rect">
            <a:avLst/>
          </a:prstGeom>
          <a:noFill/>
          <a:ln/>
        </p:spPr>
        <p:txBody>
          <a:bodyPr wrap="square" lIns="0" tIns="0" rIns="0" bIns="0" rtlCol="0" anchor="ctr"/>
          <a:lstStyle/>
          <a:p>
            <a:pPr indent="0" marL="0">
              <a:buNone/>
            </a:pPr>
            <a:r>
              <a:rPr lang="en-US" sz="1500" b="1" dirty="0">
                <a:solidFill>
                  <a:srgbClr val="6E8B7B"/>
                </a:solidFill>
                <a:latin typeface="Calibri" pitchFamily="34" charset="0"/>
                <a:ea typeface="Calibri" pitchFamily="34" charset="-122"/>
                <a:cs typeface="Calibri" pitchFamily="34" charset="-120"/>
              </a:rPr>
              <a:t>I want to be straight about this</a:t>
            </a:r>
            <a:endParaRPr lang="en-US" sz="1500" dirty="0"/>
          </a:p>
        </p:txBody>
      </p:sp>
      <p:sp>
        <p:nvSpPr>
          <p:cNvPr id="12" name="Text 10"/>
          <p:cNvSpPr txBox="1"/>
          <p:nvPr/>
        </p:nvSpPr>
        <p:spPr>
          <a:xfrm>
            <a:off x="1005840" y="4526280"/>
            <a:ext cx="10515600" cy="1005840"/>
          </a:xfrm>
          <a:prstGeom prst="rect">
            <a:avLst/>
          </a:prstGeom>
          <a:noFill/>
          <a:ln/>
        </p:spPr>
        <p:txBody>
          <a:bodyPr wrap="square" lIns="0" tIns="0" rIns="0" bIns="0" rtlCol="0" anchor="ctr"/>
          <a:lstStyle/>
          <a:p>
            <a:pPr indent="0" marL="0">
              <a:buNone/>
            </a:pPr>
            <a:r>
              <a:rPr lang="en-US" sz="1400" dirty="0">
                <a:solidFill>
                  <a:srgbClr val="C9C2B8"/>
                </a:solidFill>
                <a:latin typeface="Calibri" pitchFamily="34" charset="0"/>
                <a:ea typeface="Calibri" pitchFamily="34" charset="-122"/>
                <a:cs typeface="Calibri" pitchFamily="34" charset="-120"/>
              </a:rPr>
              <a:t>The tested part is the software's own logic — the checking, the naming, the safety rules. It has not yet been run against ExtendedReach, because that needs an authorised account and about an hour of setup. Until that happens I cannot promise it works end to end, and I am not going to.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WHAT IT TAKES</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Cost and effort</a:t>
            </a:r>
            <a:endParaRPr lang="en-US" sz="3400" dirty="0"/>
          </a:p>
        </p:txBody>
      </p:sp>
      <p:sp>
        <p:nvSpPr>
          <p:cNvPr id="4" name="Shape 2"/>
          <p:cNvSpPr/>
          <p:nvPr/>
        </p:nvSpPr>
        <p:spPr>
          <a:xfrm>
            <a:off x="640080" y="1783080"/>
            <a:ext cx="3429000" cy="3017520"/>
          </a:xfrm>
          <a:prstGeom prst="roundRect">
            <a:avLst>
              <a:gd name="adj" fmla="val 1818"/>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5" name="Text 3"/>
          <p:cNvSpPr txBox="1"/>
          <p:nvPr/>
        </p:nvSpPr>
        <p:spPr>
          <a:xfrm>
            <a:off x="960120" y="2011680"/>
            <a:ext cx="2743200" cy="256032"/>
          </a:xfrm>
          <a:prstGeom prst="rect">
            <a:avLst/>
          </a:prstGeom>
          <a:noFill/>
          <a:ln/>
        </p:spPr>
        <p:txBody>
          <a:bodyPr wrap="square" lIns="0" tIns="0" rIns="0" bIns="0" rtlCol="0" anchor="ctr"/>
          <a:lstStyle/>
          <a:p>
            <a:pPr indent="0" marL="0">
              <a:buNone/>
            </a:pPr>
            <a:r>
              <a:rPr lang="en-US" sz="1100" b="1" spc="140" kern="0" dirty="0">
                <a:solidFill>
                  <a:srgbClr val="6B635B"/>
                </a:solidFill>
                <a:latin typeface="Calibri" pitchFamily="34" charset="0"/>
                <a:ea typeface="Calibri" pitchFamily="34" charset="-122"/>
                <a:cs typeface="Calibri" pitchFamily="34" charset="-120"/>
              </a:rPr>
              <a:t>MONEY</a:t>
            </a:r>
            <a:endParaRPr lang="en-US" sz="1100" dirty="0"/>
          </a:p>
        </p:txBody>
      </p:sp>
      <p:sp>
        <p:nvSpPr>
          <p:cNvPr id="6" name="Text 4"/>
          <p:cNvSpPr txBox="1"/>
          <p:nvPr/>
        </p:nvSpPr>
        <p:spPr>
          <a:xfrm>
            <a:off x="960120" y="2331720"/>
            <a:ext cx="2834640" cy="777240"/>
          </a:xfrm>
          <a:prstGeom prst="rect">
            <a:avLst/>
          </a:prstGeom>
          <a:noFill/>
          <a:ln/>
        </p:spPr>
        <p:txBody>
          <a:bodyPr wrap="square" lIns="0" tIns="0" rIns="0" bIns="0" rtlCol="0" anchor="ctr"/>
          <a:lstStyle/>
          <a:p>
            <a:pPr indent="0" marL="0">
              <a:buNone/>
            </a:pPr>
            <a:r>
              <a:rPr lang="en-US" sz="3800" b="1" dirty="0">
                <a:solidFill>
                  <a:srgbClr val="B85042"/>
                </a:solidFill>
                <a:latin typeface="Century Schoolbook" pitchFamily="34" charset="0"/>
                <a:ea typeface="Century Schoolbook" pitchFamily="34" charset="-122"/>
                <a:cs typeface="Century Schoolbook" pitchFamily="34" charset="-120"/>
              </a:rPr>
              <a:t>$0</a:t>
            </a:r>
            <a:endParaRPr lang="en-US" sz="3800" dirty="0"/>
          </a:p>
        </p:txBody>
      </p:sp>
      <p:sp>
        <p:nvSpPr>
          <p:cNvPr id="7" name="Text 5"/>
          <p:cNvSpPr txBox="1"/>
          <p:nvPr/>
        </p:nvSpPr>
        <p:spPr>
          <a:xfrm>
            <a:off x="960120" y="3200400"/>
            <a:ext cx="2788920" cy="1371600"/>
          </a:xfrm>
          <a:prstGeom prst="rect">
            <a:avLst/>
          </a:prstGeom>
          <a:noFill/>
          <a:ln/>
        </p:spPr>
        <p:txBody>
          <a:bodyPr wrap="square" lIns="0" tIns="0" rIns="0" bIns="0" rtlCol="0" anchor="ctr"/>
          <a:lstStyle/>
          <a:p>
            <a:pPr indent="0" marL="0">
              <a:buNone/>
            </a:pPr>
            <a:r>
              <a:rPr lang="en-US" sz="1300" dirty="0">
                <a:solidFill>
                  <a:srgbClr val="2A2622"/>
                </a:solidFill>
                <a:latin typeface="Calibri" pitchFamily="34" charset="0"/>
                <a:ea typeface="Calibri" pitchFamily="34" charset="-122"/>
                <a:cs typeface="Calibri" pitchFamily="34" charset="-120"/>
              </a:rPr>
              <a:t>No new subscription. It uses the ExtendedReach account and Google Drive we already pay for.</a:t>
            </a:r>
            <a:endParaRPr lang="en-US" sz="1300" dirty="0"/>
          </a:p>
        </p:txBody>
      </p:sp>
      <p:sp>
        <p:nvSpPr>
          <p:cNvPr id="8" name="Shape 6"/>
          <p:cNvSpPr/>
          <p:nvPr/>
        </p:nvSpPr>
        <p:spPr>
          <a:xfrm>
            <a:off x="4343400" y="1783080"/>
            <a:ext cx="3429000" cy="3017520"/>
          </a:xfrm>
          <a:prstGeom prst="roundRect">
            <a:avLst>
              <a:gd name="adj" fmla="val 1818"/>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9" name="Text 7"/>
          <p:cNvSpPr txBox="1"/>
          <p:nvPr/>
        </p:nvSpPr>
        <p:spPr>
          <a:xfrm>
            <a:off x="4663440" y="2011680"/>
            <a:ext cx="2743200" cy="256032"/>
          </a:xfrm>
          <a:prstGeom prst="rect">
            <a:avLst/>
          </a:prstGeom>
          <a:noFill/>
          <a:ln/>
        </p:spPr>
        <p:txBody>
          <a:bodyPr wrap="square" lIns="0" tIns="0" rIns="0" bIns="0" rtlCol="0" anchor="ctr"/>
          <a:lstStyle/>
          <a:p>
            <a:pPr indent="0" marL="0">
              <a:buNone/>
            </a:pPr>
            <a:r>
              <a:rPr lang="en-US" sz="1100" b="1" spc="140" kern="0" dirty="0">
                <a:solidFill>
                  <a:srgbClr val="6B635B"/>
                </a:solidFill>
                <a:latin typeface="Calibri" pitchFamily="34" charset="0"/>
                <a:ea typeface="Calibri" pitchFamily="34" charset="-122"/>
                <a:cs typeface="Calibri" pitchFamily="34" charset="-120"/>
              </a:rPr>
              <a:t>SETUP</a:t>
            </a:r>
            <a:endParaRPr lang="en-US" sz="1100" dirty="0"/>
          </a:p>
        </p:txBody>
      </p:sp>
      <p:sp>
        <p:nvSpPr>
          <p:cNvPr id="10" name="Text 8"/>
          <p:cNvSpPr txBox="1"/>
          <p:nvPr/>
        </p:nvSpPr>
        <p:spPr>
          <a:xfrm>
            <a:off x="4663440" y="2331720"/>
            <a:ext cx="2834640" cy="777240"/>
          </a:xfrm>
          <a:prstGeom prst="rect">
            <a:avLst/>
          </a:prstGeom>
          <a:noFill/>
          <a:ln/>
        </p:spPr>
        <p:txBody>
          <a:bodyPr wrap="square" lIns="0" tIns="0" rIns="0" bIns="0" rtlCol="0" anchor="ctr"/>
          <a:lstStyle/>
          <a:p>
            <a:pPr indent="0" marL="0">
              <a:buNone/>
            </a:pPr>
            <a:r>
              <a:rPr lang="en-US" sz="3800" b="1" dirty="0">
                <a:solidFill>
                  <a:srgbClr val="B85042"/>
                </a:solidFill>
                <a:latin typeface="Century Schoolbook" pitchFamily="34" charset="0"/>
                <a:ea typeface="Century Schoolbook" pitchFamily="34" charset="-122"/>
                <a:cs typeface="Century Schoolbook" pitchFamily="34" charset="-120"/>
              </a:rPr>
              <a:t>~1 hour</a:t>
            </a:r>
            <a:endParaRPr lang="en-US" sz="3800" dirty="0"/>
          </a:p>
        </p:txBody>
      </p:sp>
      <p:sp>
        <p:nvSpPr>
          <p:cNvPr id="11" name="Text 9"/>
          <p:cNvSpPr txBox="1"/>
          <p:nvPr/>
        </p:nvSpPr>
        <p:spPr>
          <a:xfrm>
            <a:off x="4663440" y="3200400"/>
            <a:ext cx="2788920" cy="1371600"/>
          </a:xfrm>
          <a:prstGeom prst="rect">
            <a:avLst/>
          </a:prstGeom>
          <a:noFill/>
          <a:ln/>
        </p:spPr>
        <p:txBody>
          <a:bodyPr wrap="square" lIns="0" tIns="0" rIns="0" bIns="0" rtlCol="0" anchor="ctr"/>
          <a:lstStyle/>
          <a:p>
            <a:pPr indent="0" marL="0">
              <a:buNone/>
            </a:pPr>
            <a:r>
              <a:rPr lang="en-US" sz="1300" dirty="0">
                <a:solidFill>
                  <a:srgbClr val="2A2622"/>
                </a:solidFill>
                <a:latin typeface="Calibri" pitchFamily="34" charset="0"/>
                <a:ea typeface="Calibri" pitchFamily="34" charset="-122"/>
                <a:cs typeface="Calibri" pitchFamily="34" charset="-120"/>
              </a:rPr>
              <a:t>One sitting to point it at our nine reports, then a supervised first run.</a:t>
            </a:r>
            <a:endParaRPr lang="en-US" sz="1300" dirty="0"/>
          </a:p>
        </p:txBody>
      </p:sp>
      <p:sp>
        <p:nvSpPr>
          <p:cNvPr id="12" name="Shape 10"/>
          <p:cNvSpPr/>
          <p:nvPr/>
        </p:nvSpPr>
        <p:spPr>
          <a:xfrm>
            <a:off x="8046720" y="1783080"/>
            <a:ext cx="3429000" cy="3017520"/>
          </a:xfrm>
          <a:prstGeom prst="roundRect">
            <a:avLst>
              <a:gd name="adj" fmla="val 1818"/>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13" name="Text 11"/>
          <p:cNvSpPr txBox="1"/>
          <p:nvPr/>
        </p:nvSpPr>
        <p:spPr>
          <a:xfrm>
            <a:off x="8366760" y="2011680"/>
            <a:ext cx="2743200" cy="256032"/>
          </a:xfrm>
          <a:prstGeom prst="rect">
            <a:avLst/>
          </a:prstGeom>
          <a:noFill/>
          <a:ln/>
        </p:spPr>
        <p:txBody>
          <a:bodyPr wrap="square" lIns="0" tIns="0" rIns="0" bIns="0" rtlCol="0" anchor="ctr"/>
          <a:lstStyle/>
          <a:p>
            <a:pPr indent="0" marL="0">
              <a:buNone/>
            </a:pPr>
            <a:r>
              <a:rPr lang="en-US" sz="1100" b="1" spc="140" kern="0" dirty="0">
                <a:solidFill>
                  <a:srgbClr val="6B635B"/>
                </a:solidFill>
                <a:latin typeface="Calibri" pitchFamily="34" charset="0"/>
                <a:ea typeface="Calibri" pitchFamily="34" charset="-122"/>
                <a:cs typeface="Calibri" pitchFamily="34" charset="-120"/>
              </a:rPr>
              <a:t>UPKEEP</a:t>
            </a:r>
            <a:endParaRPr lang="en-US" sz="1100" dirty="0"/>
          </a:p>
        </p:txBody>
      </p:sp>
      <p:sp>
        <p:nvSpPr>
          <p:cNvPr id="14" name="Text 12"/>
          <p:cNvSpPr txBox="1"/>
          <p:nvPr/>
        </p:nvSpPr>
        <p:spPr>
          <a:xfrm>
            <a:off x="8366760" y="2331720"/>
            <a:ext cx="2834640" cy="777240"/>
          </a:xfrm>
          <a:prstGeom prst="rect">
            <a:avLst/>
          </a:prstGeom>
          <a:noFill/>
          <a:ln/>
        </p:spPr>
        <p:txBody>
          <a:bodyPr wrap="square" lIns="0" tIns="0" rIns="0" bIns="0" rtlCol="0" anchor="ctr"/>
          <a:lstStyle/>
          <a:p>
            <a:pPr indent="0" marL="0">
              <a:buNone/>
            </a:pPr>
            <a:r>
              <a:rPr lang="en-US" sz="3800" b="1" dirty="0">
                <a:solidFill>
                  <a:srgbClr val="B85042"/>
                </a:solidFill>
                <a:latin typeface="Century Schoolbook" pitchFamily="34" charset="0"/>
                <a:ea typeface="Century Schoolbook" pitchFamily="34" charset="-122"/>
                <a:cs typeface="Century Schoolbook" pitchFamily="34" charset="-120"/>
              </a:rPr>
              <a:t>2 min</a:t>
            </a:r>
            <a:endParaRPr lang="en-US" sz="3800" dirty="0"/>
          </a:p>
        </p:txBody>
      </p:sp>
      <p:sp>
        <p:nvSpPr>
          <p:cNvPr id="15" name="Text 13"/>
          <p:cNvSpPr txBox="1"/>
          <p:nvPr/>
        </p:nvSpPr>
        <p:spPr>
          <a:xfrm>
            <a:off x="8366760" y="3200400"/>
            <a:ext cx="2788920" cy="1371600"/>
          </a:xfrm>
          <a:prstGeom prst="rect">
            <a:avLst/>
          </a:prstGeom>
          <a:noFill/>
          <a:ln/>
        </p:spPr>
        <p:txBody>
          <a:bodyPr wrap="square" lIns="0" tIns="0" rIns="0" bIns="0" rtlCol="0" anchor="ctr"/>
          <a:lstStyle/>
          <a:p>
            <a:pPr indent="0" marL="0">
              <a:buNone/>
            </a:pPr>
            <a:r>
              <a:rPr lang="en-US" sz="1300" dirty="0">
                <a:solidFill>
                  <a:srgbClr val="2A2622"/>
                </a:solidFill>
                <a:latin typeface="Calibri" pitchFamily="34" charset="0"/>
                <a:ea typeface="Calibri" pitchFamily="34" charset="-122"/>
                <a:cs typeface="Calibri" pitchFamily="34" charset="-120"/>
              </a:rPr>
              <a:t>A weekly glance at a status screen that says plainly whether anything needs attention.</a:t>
            </a:r>
            <a:endParaRPr lang="en-US" sz="1300" dirty="0"/>
          </a:p>
        </p:txBody>
      </p:sp>
      <p:sp>
        <p:nvSpPr>
          <p:cNvPr id="16" name="Text 14"/>
          <p:cNvSpPr txBox="1"/>
          <p:nvPr/>
        </p:nvSpPr>
        <p:spPr>
          <a:xfrm>
            <a:off x="640080" y="5120640"/>
            <a:ext cx="10881360" cy="640080"/>
          </a:xfrm>
          <a:prstGeom prst="rect">
            <a:avLst/>
          </a:prstGeom>
          <a:noFill/>
          <a:ln/>
        </p:spPr>
        <p:txBody>
          <a:bodyPr wrap="square" lIns="0" tIns="0" rIns="0" bIns="0" rtlCol="0" anchor="ctr"/>
          <a:lstStyle/>
          <a:p>
            <a:pPr indent="0" marL="0">
              <a:buNone/>
            </a:pPr>
            <a:r>
              <a:rPr lang="en-US" sz="1450" i="1" dirty="0">
                <a:solidFill>
                  <a:srgbClr val="6B635B"/>
                </a:solidFill>
                <a:latin typeface="Calibri" pitchFamily="34" charset="0"/>
                <a:ea typeface="Calibri" pitchFamily="34" charset="-122"/>
                <a:cs typeface="Calibri" pitchFamily="34" charset="-120"/>
              </a:rPr>
              <a:t>The one ongoing human task: when the ExtendedReach session expires, somebody signs in again. The system will not do that itself, on purpose.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274320"/>
            <a:ext cx="10881360" cy="256032"/>
          </a:xfrm>
          <a:prstGeom prst="rect">
            <a:avLst/>
          </a:prstGeom>
          <a:noFill/>
          <a:ln/>
        </p:spPr>
        <p:txBody>
          <a:bodyPr wrap="square" lIns="0" tIns="0" rIns="0" bIns="0" rtlCol="0" anchor="ctr"/>
          <a:lstStyle/>
          <a:p>
            <a:pPr indent="0" marL="0">
              <a:buNone/>
            </a:pPr>
            <a:r>
              <a:rPr lang="en-US" sz="1100" b="1" spc="160" kern="0" dirty="0">
                <a:solidFill>
                  <a:srgbClr val="B85042"/>
                </a:solidFill>
                <a:latin typeface="Calibri" pitchFamily="34" charset="0"/>
                <a:ea typeface="Calibri" pitchFamily="34" charset="-122"/>
                <a:cs typeface="Calibri" pitchFamily="34" charset="-120"/>
              </a:rPr>
              <a:t>WHAT I NEED FROM YOU</a:t>
            </a:r>
            <a:endParaRPr lang="en-US" sz="1100" dirty="0"/>
          </a:p>
        </p:txBody>
      </p:sp>
      <p:sp>
        <p:nvSpPr>
          <p:cNvPr id="3" name="Text 1"/>
          <p:cNvSpPr txBox="1"/>
          <p:nvPr/>
        </p:nvSpPr>
        <p:spPr>
          <a:xfrm>
            <a:off x="640080" y="502920"/>
            <a:ext cx="10881360" cy="822960"/>
          </a:xfrm>
          <a:prstGeom prst="rect">
            <a:avLst/>
          </a:prstGeom>
          <a:noFill/>
          <a:ln/>
        </p:spPr>
        <p:txBody>
          <a:bodyPr wrap="square" lIns="0" tIns="0" rIns="0" bIns="0" rtlCol="0" anchor="ctr"/>
          <a:lstStyle/>
          <a:p>
            <a:pPr indent="0" marL="0">
              <a:buNone/>
            </a:pPr>
            <a:r>
              <a:rPr lang="en-US" sz="3400" b="1" dirty="0">
                <a:solidFill>
                  <a:srgbClr val="2A2622"/>
                </a:solidFill>
                <a:latin typeface="Century Schoolbook" pitchFamily="34" charset="0"/>
                <a:ea typeface="Century Schoolbook" pitchFamily="34" charset="-122"/>
                <a:cs typeface="Century Schoolbook" pitchFamily="34" charset="-120"/>
              </a:rPr>
              <a:t>Two decisions</a:t>
            </a:r>
            <a:endParaRPr lang="en-US" sz="3400" dirty="0"/>
          </a:p>
        </p:txBody>
      </p:sp>
      <p:sp>
        <p:nvSpPr>
          <p:cNvPr id="4" name="Shape 2"/>
          <p:cNvSpPr/>
          <p:nvPr/>
        </p:nvSpPr>
        <p:spPr>
          <a:xfrm>
            <a:off x="640080" y="1783080"/>
            <a:ext cx="5394960" cy="3291840"/>
          </a:xfrm>
          <a:prstGeom prst="roundRect">
            <a:avLst>
              <a:gd name="adj" fmla="val 1667"/>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5" name="Shape 3"/>
          <p:cNvSpPr/>
          <p:nvPr/>
        </p:nvSpPr>
        <p:spPr>
          <a:xfrm>
            <a:off x="1005840" y="2057400"/>
            <a:ext cx="457200" cy="457200"/>
          </a:xfrm>
          <a:prstGeom prst="ellipse">
            <a:avLst/>
          </a:prstGeom>
          <a:solidFill>
            <a:srgbClr val="B85042"/>
          </a:solidFill>
          <a:ln w="12700">
            <a:solidFill>
              <a:srgbClr val="B85042"/>
            </a:solidFill>
            <a:prstDash val="solid"/>
          </a:ln>
        </p:spPr>
      </p:sp>
      <p:sp>
        <p:nvSpPr>
          <p:cNvPr id="6" name="Text 4"/>
          <p:cNvSpPr txBox="1"/>
          <p:nvPr/>
        </p:nvSpPr>
        <p:spPr>
          <a:xfrm>
            <a:off x="1005840" y="2103120"/>
            <a:ext cx="4572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005840" y="2697480"/>
            <a:ext cx="4663440" cy="365760"/>
          </a:xfrm>
          <a:prstGeom prst="rect">
            <a:avLst/>
          </a:prstGeom>
          <a:noFill/>
          <a:ln/>
        </p:spPr>
        <p:txBody>
          <a:bodyPr wrap="square" lIns="0" tIns="0" rIns="0" bIns="0" rtlCol="0" anchor="ctr"/>
          <a:lstStyle/>
          <a:p>
            <a:pPr indent="0" marL="0">
              <a:buNone/>
            </a:pPr>
            <a:r>
              <a:rPr lang="en-US" sz="1700" b="1" dirty="0">
                <a:solidFill>
                  <a:srgbClr val="2A2622"/>
                </a:solidFill>
                <a:latin typeface="Calibri" pitchFamily="34" charset="0"/>
                <a:ea typeface="Calibri" pitchFamily="34" charset="-122"/>
                <a:cs typeface="Calibri" pitchFamily="34" charset="-120"/>
              </a:rPr>
              <a:t>Where do the files land?</a:t>
            </a:r>
            <a:endParaRPr lang="en-US" sz="1700" dirty="0"/>
          </a:p>
        </p:txBody>
      </p:sp>
      <p:sp>
        <p:nvSpPr>
          <p:cNvPr id="8" name="Text 6"/>
          <p:cNvSpPr txBox="1"/>
          <p:nvPr/>
        </p:nvSpPr>
        <p:spPr>
          <a:xfrm>
            <a:off x="1005840" y="3154680"/>
            <a:ext cx="4663440" cy="1737360"/>
          </a:xfrm>
          <a:prstGeom prst="rect">
            <a:avLst/>
          </a:prstGeom>
          <a:noFill/>
          <a:ln/>
        </p:spPr>
        <p:txBody>
          <a:bodyPr wrap="square" lIns="0" tIns="0" rIns="0" bIns="0" rtlCol="0" anchor="ctr"/>
          <a:lstStyle/>
          <a:p>
            <a:pPr indent="0" marL="0">
              <a:buNone/>
            </a:pPr>
            <a:r>
              <a:rPr lang="en-US" sz="1350" dirty="0">
                <a:solidFill>
                  <a:srgbClr val="6B635B"/>
                </a:solidFill>
                <a:latin typeface="Calibri" pitchFamily="34" charset="0"/>
                <a:ea typeface="Calibri" pitchFamily="34" charset="-122"/>
                <a:cs typeface="Calibri" pitchFamily="34" charset="-120"/>
              </a:rPr>
              <a:t>These reports carry names, dates of birth and Medicaid numbers. They should go to a Google Workspace account the agency controls and has a signed agreement for — not a personal Google account. I need confirmation of which account, and who may see the folder.</a:t>
            </a:r>
            <a:endParaRPr lang="en-US" sz="1350" dirty="0"/>
          </a:p>
        </p:txBody>
      </p:sp>
      <p:sp>
        <p:nvSpPr>
          <p:cNvPr id="9" name="Shape 7"/>
          <p:cNvSpPr/>
          <p:nvPr/>
        </p:nvSpPr>
        <p:spPr>
          <a:xfrm>
            <a:off x="6400800" y="1783080"/>
            <a:ext cx="5120640" cy="3291840"/>
          </a:xfrm>
          <a:prstGeom prst="roundRect">
            <a:avLst>
              <a:gd name="adj" fmla="val 1667"/>
            </a:avLst>
          </a:prstGeom>
          <a:solidFill>
            <a:srgbClr val="F0EBE3"/>
          </a:solidFill>
          <a:ln w="12700">
            <a:solidFill>
              <a:srgbClr val="F0EBE3"/>
            </a:solidFill>
            <a:prstDash val="solid"/>
          </a:ln>
          <a:effectLst>
            <a:outerShdw sx="100000" sy="100000" kx="0" ky="0" algn="bl" rotWithShape="0" blurRad="101600" dist="12700" dir="5400000">
              <a:srgbClr val="000000">
                <a:alpha val="7000"/>
              </a:srgbClr>
            </a:outerShdw>
          </a:effectLst>
        </p:spPr>
      </p:sp>
      <p:sp>
        <p:nvSpPr>
          <p:cNvPr id="10" name="Shape 8"/>
          <p:cNvSpPr/>
          <p:nvPr/>
        </p:nvSpPr>
        <p:spPr>
          <a:xfrm>
            <a:off x="6766560" y="2057400"/>
            <a:ext cx="457200" cy="457200"/>
          </a:xfrm>
          <a:prstGeom prst="ellipse">
            <a:avLst/>
          </a:prstGeom>
          <a:solidFill>
            <a:srgbClr val="B85042"/>
          </a:solidFill>
          <a:ln w="12700">
            <a:solidFill>
              <a:srgbClr val="B85042"/>
            </a:solidFill>
            <a:prstDash val="solid"/>
          </a:ln>
        </p:spPr>
      </p:sp>
      <p:sp>
        <p:nvSpPr>
          <p:cNvPr id="11" name="Text 9"/>
          <p:cNvSpPr txBox="1"/>
          <p:nvPr/>
        </p:nvSpPr>
        <p:spPr>
          <a:xfrm>
            <a:off x="6766560" y="2103120"/>
            <a:ext cx="4572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2" name="Text 10"/>
          <p:cNvSpPr txBox="1"/>
          <p:nvPr/>
        </p:nvSpPr>
        <p:spPr>
          <a:xfrm>
            <a:off x="6766560" y="2697480"/>
            <a:ext cx="4663440" cy="365760"/>
          </a:xfrm>
          <a:prstGeom prst="rect">
            <a:avLst/>
          </a:prstGeom>
          <a:noFill/>
          <a:ln/>
        </p:spPr>
        <p:txBody>
          <a:bodyPr wrap="square" lIns="0" tIns="0" rIns="0" bIns="0" rtlCol="0" anchor="ctr"/>
          <a:lstStyle/>
          <a:p>
            <a:pPr indent="0" marL="0">
              <a:buNone/>
            </a:pPr>
            <a:r>
              <a:rPr lang="en-US" sz="1700" b="1" dirty="0">
                <a:solidFill>
                  <a:srgbClr val="2A2622"/>
                </a:solidFill>
                <a:latin typeface="Calibri" pitchFamily="34" charset="0"/>
                <a:ea typeface="Calibri" pitchFamily="34" charset="-122"/>
                <a:cs typeface="Calibri" pitchFamily="34" charset="-120"/>
              </a:rPr>
              <a:t>May I connect it to our account?</a:t>
            </a:r>
            <a:endParaRPr lang="en-US" sz="1700" dirty="0"/>
          </a:p>
        </p:txBody>
      </p:sp>
      <p:sp>
        <p:nvSpPr>
          <p:cNvPr id="13" name="Text 11"/>
          <p:cNvSpPr txBox="1"/>
          <p:nvPr/>
        </p:nvSpPr>
        <p:spPr>
          <a:xfrm>
            <a:off x="6766560" y="3154680"/>
            <a:ext cx="4663440" cy="1737360"/>
          </a:xfrm>
          <a:prstGeom prst="rect">
            <a:avLst/>
          </a:prstGeom>
          <a:noFill/>
          <a:ln/>
        </p:spPr>
        <p:txBody>
          <a:bodyPr wrap="square" lIns="0" tIns="0" rIns="0" bIns="0" rtlCol="0" anchor="ctr"/>
          <a:lstStyle/>
          <a:p>
            <a:pPr indent="0" marL="0">
              <a:buNone/>
            </a:pPr>
            <a:r>
              <a:rPr lang="en-US" sz="1350" dirty="0">
                <a:solidFill>
                  <a:srgbClr val="6B635B"/>
                </a:solidFill>
                <a:latin typeface="Calibri" pitchFamily="34" charset="0"/>
                <a:ea typeface="Calibri" pitchFamily="34" charset="-122"/>
                <a:cs typeface="Calibri" pitchFamily="34" charset="-120"/>
              </a:rPr>
              <a:t>Approval to point it at our real ExtendedReach account and run it, supervised, for one week before it runs on its own. Nothing is uploaded during that week without someone looking at it first.</a:t>
            </a:r>
            <a:endParaRPr lang="en-US" sz="1350" dirty="0"/>
          </a:p>
        </p:txBody>
      </p:sp>
      <p:sp>
        <p:nvSpPr>
          <p:cNvPr id="14" name="Text 12"/>
          <p:cNvSpPr txBox="1"/>
          <p:nvPr/>
        </p:nvSpPr>
        <p:spPr>
          <a:xfrm>
            <a:off x="640080" y="5349240"/>
            <a:ext cx="10881360" cy="548640"/>
          </a:xfrm>
          <a:prstGeom prst="rect">
            <a:avLst/>
          </a:prstGeom>
          <a:noFill/>
          <a:ln/>
        </p:spPr>
        <p:txBody>
          <a:bodyPr wrap="square" lIns="0" tIns="0" rIns="0" bIns="0" rtlCol="0" anchor="ctr"/>
          <a:lstStyle/>
          <a:p>
            <a:pPr indent="0" marL="0">
              <a:buNone/>
            </a:pPr>
            <a:r>
              <a:rPr lang="en-US" sz="1350" i="1" dirty="0">
                <a:solidFill>
                  <a:srgbClr val="6B635B"/>
                </a:solidFill>
                <a:latin typeface="Calibri" pitchFamily="34" charset="0"/>
                <a:ea typeface="Calibri" pitchFamily="34" charset="-122"/>
                <a:cs typeface="Calibri" pitchFamily="34" charset="-120"/>
              </a:rPr>
              <a:t>Worth checking separately: whether our agreement with ExtendedReach has anything to say about automated access. One email to them settles it.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2622"/>
        </a:solidFill>
      </p:bgPr>
    </p:bg>
    <p:spTree>
      <p:nvGrpSpPr>
        <p:cNvPr id="1" name=""/>
        <p:cNvGrpSpPr/>
        <p:nvPr/>
      </p:nvGrpSpPr>
      <p:grpSpPr>
        <a:xfrm>
          <a:off x="0" y="0"/>
          <a:ext cx="0" cy="0"/>
          <a:chOff x="0" y="0"/>
          <a:chExt cx="0" cy="0"/>
        </a:xfrm>
      </p:grpSpPr>
      <p:sp>
        <p:nvSpPr>
          <p:cNvPr id="2" name="Text 0"/>
          <p:cNvSpPr txBox="1"/>
          <p:nvPr/>
        </p:nvSpPr>
        <p:spPr>
          <a:xfrm>
            <a:off x="640080" y="1371600"/>
            <a:ext cx="731520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IF APPROVED</a:t>
            </a:r>
            <a:endParaRPr lang="en-US" sz="1200" dirty="0"/>
          </a:p>
        </p:txBody>
      </p:sp>
      <p:sp>
        <p:nvSpPr>
          <p:cNvPr id="3" name="Text 1"/>
          <p:cNvSpPr txBox="1"/>
          <p:nvPr/>
        </p:nvSpPr>
        <p:spPr>
          <a:xfrm>
            <a:off x="640080" y="1783080"/>
            <a:ext cx="9144000" cy="731520"/>
          </a:xfrm>
          <a:prstGeom prst="rect">
            <a:avLst/>
          </a:prstGeom>
          <a:noFill/>
          <a:ln/>
        </p:spPr>
        <p:txBody>
          <a:bodyPr wrap="square" lIns="0" tIns="0" rIns="0" bIns="0" rtlCol="0" anchor="ctr"/>
          <a:lstStyle/>
          <a:p>
            <a:pPr indent="0" marL="0">
              <a:buNone/>
            </a:pPr>
            <a:r>
              <a:rPr lang="en-US" sz="3600" b="1" dirty="0">
                <a:solidFill>
                  <a:srgbClr val="FFFFFF"/>
                </a:solidFill>
                <a:latin typeface="Century Schoolbook" pitchFamily="34" charset="0"/>
                <a:ea typeface="Century Schoolbook" pitchFamily="34" charset="-122"/>
                <a:cs typeface="Century Schoolbook" pitchFamily="34" charset="-120"/>
              </a:rPr>
              <a:t>What happens next</a:t>
            </a:r>
            <a:endParaRPr lang="en-US" sz="3600" dirty="0"/>
          </a:p>
        </p:txBody>
      </p:sp>
      <p:sp>
        <p:nvSpPr>
          <p:cNvPr id="4" name="Text 2"/>
          <p:cNvSpPr txBox="1"/>
          <p:nvPr/>
        </p:nvSpPr>
        <p:spPr>
          <a:xfrm>
            <a:off x="640080" y="2880360"/>
            <a:ext cx="2011680" cy="320040"/>
          </a:xfrm>
          <a:prstGeom prst="rect">
            <a:avLst/>
          </a:prstGeom>
          <a:noFill/>
          <a:ln/>
        </p:spPr>
        <p:txBody>
          <a:bodyPr wrap="square" lIns="0" tIns="0" rIns="0" bIns="0" rtlCol="0" anchor="ctr"/>
          <a:lstStyle/>
          <a:p>
            <a:pPr indent="0" marL="0">
              <a:buNone/>
            </a:pPr>
            <a:r>
              <a:rPr lang="en-US" sz="1500" b="1" dirty="0">
                <a:solidFill>
                  <a:srgbClr val="6E8B7B"/>
                </a:solidFill>
                <a:latin typeface="Calibri" pitchFamily="34" charset="0"/>
                <a:ea typeface="Calibri" pitchFamily="34" charset="-122"/>
                <a:cs typeface="Calibri" pitchFamily="34" charset="-120"/>
              </a:rPr>
              <a:t>This week</a:t>
            </a:r>
            <a:endParaRPr lang="en-US" sz="1500" dirty="0"/>
          </a:p>
        </p:txBody>
      </p:sp>
      <p:sp>
        <p:nvSpPr>
          <p:cNvPr id="5" name="Text 3"/>
          <p:cNvSpPr txBox="1"/>
          <p:nvPr/>
        </p:nvSpPr>
        <p:spPr>
          <a:xfrm>
            <a:off x="2834640" y="2880360"/>
            <a:ext cx="8412480" cy="548640"/>
          </a:xfrm>
          <a:prstGeom prst="rect">
            <a:avLst/>
          </a:prstGeom>
          <a:noFill/>
          <a:ln/>
        </p:spPr>
        <p:txBody>
          <a:bodyPr wrap="square" lIns="0" tIns="0" rIns="0" bIns="0" rtlCol="0" anchor="ctr"/>
          <a:lstStyle/>
          <a:p>
            <a:pPr indent="0" marL="0">
              <a:buNone/>
            </a:pPr>
            <a:r>
              <a:rPr lang="en-US" sz="1500" dirty="0">
                <a:solidFill>
                  <a:srgbClr val="C9C2B8"/>
                </a:solidFill>
                <a:latin typeface="Calibri" pitchFamily="34" charset="0"/>
                <a:ea typeface="Calibri" pitchFamily="34" charset="-122"/>
                <a:cs typeface="Calibri" pitchFamily="34" charset="-120"/>
              </a:rPr>
              <a:t>One hour of setup, pointing it at our nine reports</a:t>
            </a:r>
            <a:endParaRPr lang="en-US" sz="1500" dirty="0"/>
          </a:p>
        </p:txBody>
      </p:sp>
      <p:sp>
        <p:nvSpPr>
          <p:cNvPr id="6" name="Text 4"/>
          <p:cNvSpPr txBox="1"/>
          <p:nvPr/>
        </p:nvSpPr>
        <p:spPr>
          <a:xfrm>
            <a:off x="640080" y="3840480"/>
            <a:ext cx="2011680" cy="320040"/>
          </a:xfrm>
          <a:prstGeom prst="rect">
            <a:avLst/>
          </a:prstGeom>
          <a:noFill/>
          <a:ln/>
        </p:spPr>
        <p:txBody>
          <a:bodyPr wrap="square" lIns="0" tIns="0" rIns="0" bIns="0" rtlCol="0" anchor="ctr"/>
          <a:lstStyle/>
          <a:p>
            <a:pPr indent="0" marL="0">
              <a:buNone/>
            </a:pPr>
            <a:r>
              <a:rPr lang="en-US" sz="1500" b="1" dirty="0">
                <a:solidFill>
                  <a:srgbClr val="6E8B7B"/>
                </a:solidFill>
                <a:latin typeface="Calibri" pitchFamily="34" charset="0"/>
                <a:ea typeface="Calibri" pitchFamily="34" charset="-122"/>
                <a:cs typeface="Calibri" pitchFamily="34" charset="-120"/>
              </a:rPr>
              <a:t>Next week</a:t>
            </a:r>
            <a:endParaRPr lang="en-US" sz="1500" dirty="0"/>
          </a:p>
        </p:txBody>
      </p:sp>
      <p:sp>
        <p:nvSpPr>
          <p:cNvPr id="7" name="Text 5"/>
          <p:cNvSpPr txBox="1"/>
          <p:nvPr/>
        </p:nvSpPr>
        <p:spPr>
          <a:xfrm>
            <a:off x="2834640" y="3840480"/>
            <a:ext cx="8412480" cy="548640"/>
          </a:xfrm>
          <a:prstGeom prst="rect">
            <a:avLst/>
          </a:prstGeom>
          <a:noFill/>
          <a:ln/>
        </p:spPr>
        <p:txBody>
          <a:bodyPr wrap="square" lIns="0" tIns="0" rIns="0" bIns="0" rtlCol="0" anchor="ctr"/>
          <a:lstStyle/>
          <a:p>
            <a:pPr indent="0" marL="0">
              <a:buNone/>
            </a:pPr>
            <a:r>
              <a:rPr lang="en-US" sz="1500" dirty="0">
                <a:solidFill>
                  <a:srgbClr val="C9C2B8"/>
                </a:solidFill>
                <a:latin typeface="Calibri" pitchFamily="34" charset="0"/>
                <a:ea typeface="Calibri" pitchFamily="34" charset="-122"/>
                <a:cs typeface="Calibri" pitchFamily="34" charset="-120"/>
              </a:rPr>
              <a:t>Supervised runs. Every file checked by hand before it is trusted</a:t>
            </a:r>
            <a:endParaRPr lang="en-US" sz="1500" dirty="0"/>
          </a:p>
        </p:txBody>
      </p:sp>
      <p:sp>
        <p:nvSpPr>
          <p:cNvPr id="8" name="Text 6"/>
          <p:cNvSpPr txBox="1"/>
          <p:nvPr/>
        </p:nvSpPr>
        <p:spPr>
          <a:xfrm>
            <a:off x="640080" y="4800600"/>
            <a:ext cx="2011680" cy="320040"/>
          </a:xfrm>
          <a:prstGeom prst="rect">
            <a:avLst/>
          </a:prstGeom>
          <a:noFill/>
          <a:ln/>
        </p:spPr>
        <p:txBody>
          <a:bodyPr wrap="square" lIns="0" tIns="0" rIns="0" bIns="0" rtlCol="0" anchor="ctr"/>
          <a:lstStyle/>
          <a:p>
            <a:pPr indent="0" marL="0">
              <a:buNone/>
            </a:pPr>
            <a:r>
              <a:rPr lang="en-US" sz="1500" b="1" dirty="0">
                <a:solidFill>
                  <a:srgbClr val="6E8B7B"/>
                </a:solidFill>
                <a:latin typeface="Calibri" pitchFamily="34" charset="0"/>
                <a:ea typeface="Calibri" pitchFamily="34" charset="-122"/>
                <a:cs typeface="Calibri" pitchFamily="34" charset="-120"/>
              </a:rPr>
              <a:t>After that</a:t>
            </a:r>
            <a:endParaRPr lang="en-US" sz="1500" dirty="0"/>
          </a:p>
        </p:txBody>
      </p:sp>
      <p:sp>
        <p:nvSpPr>
          <p:cNvPr id="9" name="Text 7"/>
          <p:cNvSpPr txBox="1"/>
          <p:nvPr/>
        </p:nvSpPr>
        <p:spPr>
          <a:xfrm>
            <a:off x="2834640" y="4800600"/>
            <a:ext cx="8412480" cy="548640"/>
          </a:xfrm>
          <a:prstGeom prst="rect">
            <a:avLst/>
          </a:prstGeom>
          <a:noFill/>
          <a:ln/>
        </p:spPr>
        <p:txBody>
          <a:bodyPr wrap="square" lIns="0" tIns="0" rIns="0" bIns="0" rtlCol="0" anchor="ctr"/>
          <a:lstStyle/>
          <a:p>
            <a:pPr indent="0" marL="0">
              <a:buNone/>
            </a:pPr>
            <a:r>
              <a:rPr lang="en-US" sz="1500" dirty="0">
                <a:solidFill>
                  <a:srgbClr val="C9C2B8"/>
                </a:solidFill>
                <a:latin typeface="Calibri" pitchFamily="34" charset="0"/>
                <a:ea typeface="Calibri" pitchFamily="34" charset="-122"/>
                <a:cs typeface="Calibri" pitchFamily="34" charset="-120"/>
              </a:rPr>
              <a:t>It runs on a timer. Two minutes a week to confirm it is healthy</a:t>
            </a:r>
            <a:endParaRPr lang="en-US" sz="1500" dirty="0"/>
          </a:p>
        </p:txBody>
      </p:sp>
      <p:sp>
        <p:nvSpPr>
          <p:cNvPr id="10" name="Text 8"/>
          <p:cNvSpPr txBox="1"/>
          <p:nvPr/>
        </p:nvSpPr>
        <p:spPr>
          <a:xfrm>
            <a:off x="640080" y="5806440"/>
            <a:ext cx="10515600" cy="457200"/>
          </a:xfrm>
          <a:prstGeom prst="rect">
            <a:avLst/>
          </a:prstGeom>
          <a:noFill/>
          <a:ln/>
        </p:spPr>
        <p:txBody>
          <a:bodyPr wrap="square" lIns="0" tIns="0" rIns="0" bIns="0" rtlCol="0" anchor="ctr"/>
          <a:lstStyle/>
          <a:p>
            <a:pPr indent="0" marL="0">
              <a:buNone/>
            </a:pPr>
            <a:r>
              <a:rPr lang="en-US" sz="1400" i="1" dirty="0">
                <a:solidFill>
                  <a:srgbClr val="6B635B"/>
                </a:solidFill>
                <a:latin typeface="Calibri" pitchFamily="34" charset="0"/>
                <a:ea typeface="Calibri" pitchFamily="34" charset="-122"/>
                <a:cs typeface="Calibri" pitchFamily="34" charset="-120"/>
              </a:rPr>
              <a:t>If it does not work against our portal, we will know within a week — and we will have spent an hour finding out.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ExtendedReach Report Automation</dc:title>
  <dc:subject>PptxGenJS Presentation</dc:subject>
  <dc:creator>Houston Strong CPA</dc:creator>
  <cp:lastModifiedBy>Houston Strong CPA</cp:lastModifiedBy>
  <cp:revision>1</cp:revision>
  <dcterms:created xsi:type="dcterms:W3CDTF">2026-08-28T04:24:16Z</dcterms:created>
  <dcterms:modified xsi:type="dcterms:W3CDTF">2026-08-28T04:24:16Z</dcterms:modified>
</cp:coreProperties>
</file>